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960120"/>
            <a:ext cx="3291840" cy="32918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●  POLYGLOT NOSQL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F172A"/>
                </a:solidFill>
                <a:latin typeface="Segoe UI"/>
              </a:defRPr>
            </a:pPr>
            <a:r>
              <a:t>ChainReaction</a:t>
            </a:r>
          </a:p>
          <a:p>
            <a:pPr>
              <a:spcBef>
                <a:spcPts val="800"/>
              </a:spcBef>
              <a:defRPr sz="1800">
                <a:solidFill>
                  <a:srgbClr val="0284C7"/>
                </a:solidFill>
              </a:defRPr>
            </a:pPr>
            <a:r>
              <a:t>Real-Time Software Supply Chain &amp; Transitive Blast Radius Telemetry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154680"/>
            <a:ext cx="3328416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337560"/>
            <a:ext cx="28712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284C7"/>
                </a:solidFill>
                <a:latin typeface="Segoe UI"/>
              </a:defRPr>
            </a:pPr>
            <a:r>
              <a:t>&lt; 5ms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Blast Radius Traversal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Neo4j Index-Free Adjacency across 1..5 hops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3154680"/>
            <a:ext cx="3328416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296" y="3337560"/>
            <a:ext cx="28712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Segoe UI"/>
              </a:defRPr>
            </a:pPr>
            <a:r>
              <a:t>&lt; 1ms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Query Caching Latency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Redis In-Memory TTL &amp; ZSET Risk Leaderboard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3154680"/>
            <a:ext cx="3328416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2" y="3337560"/>
            <a:ext cx="28712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9669"/>
                </a:solidFill>
                <a:latin typeface="Segoe UI"/>
              </a:defRPr>
            </a:pPr>
            <a:r>
              <a:t>BSON + $facet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Document &amp; Analytics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MongoDB Schema Validation &amp; Computed 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Author: Siddhant Mishra   |   Stack: MongoDB 7.0 • Neo4j 5.20 • Redis 7.0 • FastAPI • React 18 Cytoscape   |   Repo: github.com/Sid-V5/ChainReaction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DC2626"/>
                </a:solidFill>
                <a:latin typeface="Segoe UI"/>
              </a:defRPr>
            </a:pPr>
            <a:r>
              <a:t>● 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The Transitive Software Supply Chain Crisis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Segoe UI"/>
              </a:defRPr>
            </a:pPr>
            <a:r>
              <a:t>⚠  The Hidden Dependency Blast Radius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Deep Indirect Layers: </a:t>
            </a:r>
            <a:r>
              <a:rPr sz="1200">
                <a:solidFill>
                  <a:srgbClr val="334155"/>
                </a:solidFill>
                <a:latin typeface="Segoe UI"/>
              </a:rPr>
              <a:t>Modern microservices rely on 500+ packages layered 3 to 6 hops deep.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The Transitive Blindspot: </a:t>
            </a:r>
            <a:r>
              <a:rPr sz="1200">
                <a:solidFill>
                  <a:srgbClr val="334155"/>
                </a:solidFill>
                <a:latin typeface="Segoe UI"/>
              </a:rPr>
              <a:t>Over 80% of open-source vulnerabilities reside in transitive dependencies that developers never explicitly imported in their manifests.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Static Scanner Failure: </a:t>
            </a:r>
            <a:r>
              <a:rPr sz="1200">
                <a:solidFill>
                  <a:srgbClr val="334155"/>
                </a:solidFill>
                <a:latin typeface="Segoe UI"/>
              </a:rPr>
              <a:t>Conventional security tools produce flat CSV vulnerability scans that cannot compute graph topologies or trace attack paths.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Breaking Change Dilemma: </a:t>
            </a:r>
            <a:r>
              <a:rPr sz="1200">
                <a:solidFill>
                  <a:srgbClr val="334155"/>
                </a:solidFill>
                <a:latin typeface="Segoe UI"/>
              </a:rPr>
              <a:t>Deprecating or bumping an indirect dependency risks silently breaking dozens of downstream consumer build pipelines.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663440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⚡  Real-World Attack Vectors &amp;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Log4Shell (CVE-2021-44228): </a:t>
            </a:r>
            <a:r>
              <a:rPr sz="1200">
                <a:solidFill>
                  <a:srgbClr val="334155"/>
                </a:solidFill>
                <a:latin typeface="Segoe UI"/>
              </a:rPr>
              <a:t>Compromised top-level enterprise services transitively via nested framework wrappers (e.g., Spring Boot -&gt; spring-web -&gt; log4j-core).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XZ Utils (CVE-2024-3094): </a:t>
            </a:r>
            <a:r>
              <a:rPr sz="1200">
                <a:solidFill>
                  <a:srgbClr val="334155"/>
                </a:solidFill>
                <a:latin typeface="Segoe UI"/>
              </a:rPr>
              <a:t>Malicious backdoor embedded deep inside low-level compression dependencies, affecting upstream SSH daemons.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Engine Requirement 1: </a:t>
            </a:r>
            <a:r>
              <a:rPr sz="1200">
                <a:solidFill>
                  <a:srgbClr val="334155"/>
                </a:solidFill>
                <a:latin typeface="Segoe UI"/>
              </a:rPr>
              <a:t>Must trace multi-hop transitive paths in sub-5ms across all company repositories.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Engine Requirement 2: </a:t>
            </a:r>
            <a:r>
              <a:rPr sz="1200">
                <a:solidFill>
                  <a:srgbClr val="334155"/>
                </a:solidFill>
                <a:latin typeface="Segoe UI"/>
              </a:rPr>
              <a:t>Must ingest polymorphic package manifests and compute live risk leaderboards in real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●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Why a Single Database Fails: The Polyglot Triad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Segoe UI"/>
              </a:defRPr>
            </a:pPr>
            <a:r>
              <a:t>✕  Relational RDBMS Bottlenecks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Recursive JOIN Explosion: </a:t>
            </a:r>
            <a:r>
              <a:rPr sz="1200">
                <a:solidFill>
                  <a:srgbClr val="334155"/>
                </a:solidFill>
                <a:latin typeface="Segoe UI"/>
              </a:rPr>
              <a:t>Tracing 5-hop dependencies requires repeated self-joins: JOIN dependencies d1 JOIN dependencies d2...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Exponential Complexity O(b^d): </a:t>
            </a:r>
            <a:r>
              <a:rPr sz="1200">
                <a:solidFill>
                  <a:srgbClr val="334155"/>
                </a:solidFill>
                <a:latin typeface="Segoe UI"/>
              </a:rPr>
              <a:t>Execution time explodes exponentially with depth d and branching factor b. 5-hop queries freeze for multiple seconds under high concurrency.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Schema Rigidity: </a:t>
            </a:r>
            <a:r>
              <a:rPr sz="1200">
                <a:solidFill>
                  <a:srgbClr val="334155"/>
                </a:solidFill>
                <a:latin typeface="Segoe UI"/>
              </a:rPr>
              <a:t>Relational schemas force strict column definitions, failing to handle polymorphic manifests (npm package.json vs. Python requirements.txt vs. Maven pom.xml).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Locking &amp; Concurrency: </a:t>
            </a:r>
            <a:r>
              <a:rPr sz="1200">
                <a:solidFill>
                  <a:srgbClr val="334155"/>
                </a:solidFill>
                <a:latin typeface="Segoe UI"/>
              </a:rPr>
              <a:t>ACID row locks stall high-velocity vulnerability advisory ingestion.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663440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Segoe UI"/>
              </a:defRPr>
            </a:pPr>
            <a:r>
              <a:t>✓  ChainReaction's Polyglot Triad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MongoDB (Document Store): </a:t>
            </a:r>
            <a:r>
              <a:rPr sz="1200">
                <a:solidFill>
                  <a:srgbClr val="334155"/>
                </a:solidFill>
                <a:latin typeface="Segoe UI"/>
              </a:rPr>
              <a:t>Stores polymorphic manifests, repository profiles, and raw OSV.dev CVE JSON advisories. Powers complex aggregation pipelines.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Neo4j (Graph Engine): </a:t>
            </a:r>
            <a:r>
              <a:rPr sz="1200">
                <a:solidFill>
                  <a:srgbClr val="334155"/>
                </a:solidFill>
                <a:latin typeface="Segoe UI"/>
              </a:rPr>
              <a:t>Uses Index-Free Adjacency (pointer-based traversal) to compute 1..5 hop blast radius in sub-5ms where SQL crawls.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Redis (In-Memory Key-Value): </a:t>
            </a:r>
            <a:r>
              <a:rPr sz="1200">
                <a:solidFill>
                  <a:srgbClr val="334155"/>
                </a:solidFill>
                <a:latin typeface="Segoe UI"/>
              </a:rPr>
              <a:t>Maintains live sorted set (ZSET) risk leaderboards and caches expensive graph traversals for sub-1ms repeat reads.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FastAPI Orchestrator: </a:t>
            </a:r>
            <a:r>
              <a:rPr sz="1200">
                <a:solidFill>
                  <a:srgbClr val="334155"/>
                </a:solidFill>
                <a:latin typeface="Segoe UI"/>
              </a:rPr>
              <a:t>Asynchronous Python ASGI backend streaming live WebSocket zero-day alerts directly to the Cytoscape canvas.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059669"/>
                </a:solidFill>
                <a:latin typeface="Segoe UI"/>
              </a:defRPr>
            </a:pPr>
            <a:r>
              <a:t>●  MONGODB DOCUMENT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Flexible Document Modeling for Polymorphic Manifests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Segoe UI"/>
              </a:defRPr>
            </a:pPr>
            <a:r>
              <a:t>📄  Handling Semi-Structured Heterogeneity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Polymorphic Manifests: </a:t>
            </a:r>
            <a:r>
              <a:rPr sz="1200">
                <a:solidFill>
                  <a:srgbClr val="334155"/>
                </a:solidFill>
                <a:latin typeface="Segoe UI"/>
              </a:rPr>
              <a:t>package.json uses objects, requirements.txt uses version specifiers (==, &gt;=), pom.xml uses XML coordinate tags. BSON stores all natively without migrations.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Collections in ChainReaction: </a:t>
            </a:r>
            <a:r>
              <a:rPr sz="1200">
                <a:solidFill>
                  <a:srgbClr val="334155"/>
                </a:solidFill>
                <a:latin typeface="Segoe UI"/>
              </a:rPr>
              <a:t>• repositories: Repo metadata, star count, language, and pre-computed risk metrics.
• cve_advisories: Raw OSV.dev JSON vulnerability advisories with nested affected version ranges.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Native BSON Advantages: </a:t>
            </a:r>
            <a:r>
              <a:rPr sz="1200">
                <a:solidFill>
                  <a:srgbClr val="334155"/>
                </a:solidFill>
                <a:latin typeface="Segoe UI"/>
              </a:rPr>
              <a:t>Rich BSON types (Date, Int32, Double, Array, Object) enable direct mathematical scoring and timestamp filtering inside queries.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Decoupled Evolution: </a:t>
            </a:r>
            <a:r>
              <a:rPr sz="1200">
                <a:solidFill>
                  <a:srgbClr val="334155"/>
                </a:solidFill>
                <a:latin typeface="Segoe UI"/>
              </a:rPr>
              <a:t>New security scanners or package ecosystems can be added instantly without altering existing document structures.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663440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💻  BSON Repository Document Blueprint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48840"/>
            <a:ext cx="4846320" cy="38404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286000"/>
            <a:ext cx="4517136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50">
                <a:solidFill>
                  <a:srgbClr val="0F172A"/>
                </a:solidFill>
                <a:latin typeface="Consolas"/>
              </a:defRPr>
            </a:pPr>
            <a:r>
              <a:t>// MongoDB BSON Collection: repositories</a:t>
            </a:r>
            <a:br/>
            <a:r>
              <a:t>{</a:t>
            </a:r>
            <a:br/>
            <a:r>
              <a:t>  "_id": ObjectId("6701a5b82f819a..."),</a:t>
            </a:r>
            <a:br/>
            <a:r>
              <a:t>  "repo_slug": "spring-projects/spring-boot",</a:t>
            </a:r>
            <a:br/>
            <a:r>
              <a:t>  "primary_language": "Java",</a:t>
            </a:r>
            <a:br/>
            <a:r>
              <a:t>  "stars": 72400,</a:t>
            </a:r>
            <a:br/>
            <a:r>
              <a:t>  "risk_score": 78.4,       // Computed Pattern</a:t>
            </a:r>
            <a:br/>
            <a:r>
              <a:t>  "total_cves": 4,          // Computed Pattern</a:t>
            </a:r>
            <a:br/>
            <a:r>
              <a:t>  "highest_cvss": 9.8,       // Pre-calculated</a:t>
            </a:r>
            <a:br/>
            <a:r>
              <a:t>  "manifest_type": "pom.xml",</a:t>
            </a:r>
            <a:br/>
            <a:r>
              <a:t>  "dependencies": [</a:t>
            </a:r>
            <a:br/>
            <a:r>
              <a:t>    { "name": "spring-web", "version": "5.3.18", "is_direct": true },</a:t>
            </a:r>
            <a:br/>
            <a:r>
              <a:t>    { "name": "log4j-core", "version": "2.14.1", "is_direct": false }</a:t>
            </a:r>
            <a:br/>
            <a:r>
              <a:t>  ],</a:t>
            </a:r>
            <a:br/>
            <a:r>
              <a:t>  "last_scanned_at": ISODate("2026-10-06T10:15:00Z")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059669"/>
                </a:solidFill>
                <a:latin typeface="Segoe UI"/>
              </a:defRPr>
            </a:pPr>
            <a:r>
              <a:t>●  MONGODB DATA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Engine-Level Collection Schema Validation ($jsonSchema)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Segoe UI"/>
              </a:defRPr>
            </a:pPr>
            <a:r>
              <a:t>🛡  Why Database-Level Validation?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Independent of Application Code: </a:t>
            </a:r>
            <a:r>
              <a:rPr sz="1200">
                <a:solidFill>
                  <a:srgbClr val="334155"/>
                </a:solidFill>
                <a:latin typeface="Segoe UI"/>
              </a:rPr>
              <a:t>Validates at the database engine level. External ingestion scripts, admin tools, or microservices cannot corrupt data.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Zero ORM Overhead: </a:t>
            </a:r>
            <a:r>
              <a:rPr sz="1200">
                <a:solidFill>
                  <a:srgbClr val="334155"/>
                </a:solidFill>
                <a:latin typeface="Segoe UI"/>
              </a:rPr>
              <a:t>Traditional Python ORMs (like SQLAlchemy) add CPU overhead converting objects. MongoDB validates native BSON documents directly in C++.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Enforces Critical Invariants: </a:t>
            </a:r>
            <a:r>
              <a:rPr sz="1200">
                <a:solidFill>
                  <a:srgbClr val="334155"/>
                </a:solidFill>
                <a:latin typeface="Segoe UI"/>
              </a:rPr>
              <a:t>Guarantees that repo_slug is a string, stars is a non-negative integer, and risk_score is within [0.0, 100.0].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Selective Strictness: </a:t>
            </a:r>
            <a:r>
              <a:rPr sz="1200">
                <a:solidFill>
                  <a:srgbClr val="334155"/>
                </a:solidFill>
                <a:latin typeface="Segoe UI"/>
              </a:rPr>
              <a:t>Strict on core security coordinates, while allowing dynamic nested fields inside the dependency manifest array.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663440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⚙  Validation Rule in backend/db/mongodb.py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48840"/>
            <a:ext cx="4846320" cy="38404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286000"/>
            <a:ext cx="4517136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50">
                <a:solidFill>
                  <a:srgbClr val="0F172A"/>
                </a:solidFill>
                <a:latin typeface="Consolas"/>
              </a:defRPr>
            </a:pPr>
            <a:r>
              <a:t>// Schema Validator applied on db.create_collection("repositories")</a:t>
            </a:r>
            <a:br/>
            <a:r>
              <a:t>validator = {</a:t>
            </a:r>
            <a:br/>
            <a:r>
              <a:t>  "$jsonSchema": {</a:t>
            </a:r>
            <a:br/>
            <a:r>
              <a:t>    "bsonType": "object",</a:t>
            </a:r>
            <a:br/>
            <a:r>
              <a:t>    "required": ["repo_slug", "primary_language", "stars", "risk_score"],</a:t>
            </a:r>
            <a:br/>
            <a:r>
              <a:t>    "properties": {</a:t>
            </a:r>
            <a:br/>
            <a:r>
              <a:t>      "repo_slug": {</a:t>
            </a:r>
            <a:br/>
            <a:r>
              <a:t>        "bsonType": "string",</a:t>
            </a:r>
            <a:br/>
            <a:r>
              <a:t>        "pattern": "^[a-zA-Z0-9_.-]+/[a-zA-Z0-9_.-]+$",</a:t>
            </a:r>
            <a:br/>
            <a:r>
              <a:t>        "description": "Must be a valid 'owner/repo' slug"</a:t>
            </a:r>
            <a:br/>
            <a:r>
              <a:t>      },</a:t>
            </a:r>
            <a:br/>
            <a:r>
              <a:t>      "primary_language": { "bsonType": "string" },</a:t>
            </a:r>
            <a:br/>
            <a:r>
              <a:t>      "stars": { "bsonType": "int", "minimum": 0 },</a:t>
            </a:r>
            <a:br/>
            <a:r>
              <a:t>      "risk_score": { "bsonType": "double", "minimum": 0.0, "maximum": 100.0 },</a:t>
            </a:r>
            <a:br/>
            <a:r>
              <a:t>      "total_cves": { "bsonType": "int", "minimum": 0 }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059669"/>
                </a:solidFill>
                <a:latin typeface="Segoe UI"/>
              </a:defRPr>
            </a:pPr>
            <a:r>
              <a:t>●  MONGODB SCHEMA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Eliminating Read Bottlenecks via Schema Design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058400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Segoe UI"/>
              </a:defRPr>
            </a:pPr>
            <a:r>
              <a:t>⚡  The Computed Pattern (Read Optimization)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0058400" cy="1554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  <a:latin typeface="Segoe UI"/>
              </a:rPr>
              <a:t>•  The Challenge: </a:t>
            </a:r>
            <a:r>
              <a:rPr sz="1150">
                <a:solidFill>
                  <a:srgbClr val="334155"/>
                </a:solidFill>
                <a:latin typeface="Segoe UI"/>
              </a:rPr>
              <a:t>Calculating a repository's security posture on-the-fly requires scanning hundreds of nested CVE records, extracting CVSS scores, and summing weights on every dashboard read request.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  <a:latin typeface="Segoe UI"/>
              </a:rPr>
              <a:t>•  The Implementation: </a:t>
            </a:r>
            <a:r>
              <a:rPr sz="1150">
                <a:solidFill>
                  <a:srgbClr val="334155"/>
                </a:solidFill>
                <a:latin typeface="Segoe UI"/>
              </a:rPr>
              <a:t>We pre-compute risk_score, total_cves, and highest_cvss during the ingestion/scan phase and embed them directly on write into the root document.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  <a:latin typeface="Segoe UI"/>
              </a:rPr>
              <a:t>•  The Performance Gain: </a:t>
            </a:r>
            <a:r>
              <a:rPr sz="1150">
                <a:solidFill>
                  <a:srgbClr val="334155"/>
                </a:solidFill>
                <a:latin typeface="Segoe UI"/>
              </a:rPr>
              <a:t>Dashboard queries, sorting, and risk filters execute in O(1) time directly from the index without scanning nested dependencies or performing runtime math.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6984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10058400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🔗  The Extended Reference Pattern (Anti-Bloat Strategy)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10058400" cy="1554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  <a:latin typeface="Segoe UI"/>
              </a:rPr>
              <a:t>•  The Challenge: </a:t>
            </a:r>
            <a:r>
              <a:rPr sz="1150">
                <a:solidFill>
                  <a:srgbClr val="334155"/>
                </a:solidFill>
                <a:latin typeface="Segoe UI"/>
              </a:rPr>
              <a:t>Embedding full CVE advisory payloads (descriptions, references, patch diffs) inside repository documents would exceed the 16MB BSON limit and cause massive data duplication across shared libraries.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  <a:latin typeface="Segoe UI"/>
              </a:rPr>
              <a:t>•  The Implementation: </a:t>
            </a:r>
            <a:r>
              <a:rPr sz="1150">
                <a:solidFill>
                  <a:srgbClr val="334155"/>
                </a:solidFill>
                <a:latin typeface="Segoe UI"/>
              </a:rPr>
              <a:t>We embed only frequently accessed dependency metadata (name, version, is_direct) in the repository document, while storing canonical CVE documents separately in cve_advisories.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  <a:latin typeface="Segoe UI"/>
              </a:rPr>
              <a:t>•  The Performance Gain: </a:t>
            </a:r>
            <a:r>
              <a:rPr sz="1150">
                <a:solidFill>
                  <a:srgbClr val="334155"/>
                </a:solidFill>
                <a:latin typeface="Segoe UI"/>
              </a:rPr>
              <a:t>Keeps repository documents ultra-lightweight (~4KB), maximizing cache efficiency in RAM while enabling deep advisory lookups on demand.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059669"/>
                </a:solidFill>
                <a:latin typeface="Segoe UI"/>
              </a:defRPr>
            </a:pPr>
            <a:r>
              <a:t>●  MONGODB INDEXING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Compound &amp; Text Indexes for High-Velocity Queries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754880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Segoe UI"/>
              </a:defRPr>
            </a:pPr>
            <a:r>
              <a:t>🔍  Engineered Database Indexes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754880" cy="3931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  <a:latin typeface="Segoe UI"/>
              </a:rPr>
              <a:t>•  Compound Index: </a:t>
            </a:r>
            <a:r>
              <a:rPr sz="1150">
                <a:solidFill>
                  <a:srgbClr val="334155"/>
                </a:solidFill>
                <a:latin typeface="Segoe UI"/>
              </a:rPr>
              <a:t>[('primary_language', 1), ('stars', -1)]
Powers instant filtering by programming language while keeping repositories pre-sorted by star count. Eliminates in-memory sorting completely.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  <a:latin typeface="Segoe UI"/>
              </a:rPr>
              <a:t>•  Full-Text Search Index: </a:t>
            </a:r>
            <a:r>
              <a:rPr sz="1150">
                <a:solidFill>
                  <a:srgbClr val="334155"/>
                </a:solidFill>
                <a:latin typeface="Segoe UI"/>
              </a:rPr>
              <a:t>[('repo_slug', 'text'), ('description', 'text')]
Enables instantaneous tokenized full-text search across repository names and library summaries.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  <a:latin typeface="Segoe UI"/>
              </a:rPr>
              <a:t>•  Unique Constraint Index: </a:t>
            </a:r>
            <a:r>
              <a:rPr sz="1150">
                <a:solidFill>
                  <a:srgbClr val="334155"/>
                </a:solidFill>
                <a:latin typeface="Segoe UI"/>
              </a:rPr>
              <a:t>[('repo_slug', 1)], unique=True
Guarantees idempotent ingestion pipelines, preventing duplicate records when re-scanning active projects.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  <a:latin typeface="Segoe UI"/>
              </a:rPr>
              <a:t>•  Explain Plan Results: </a:t>
            </a:r>
            <a:r>
              <a:rPr sz="1150">
                <a:solidFill>
                  <a:srgbClr val="334155"/>
                </a:solidFill>
                <a:latin typeface="Segoe UI"/>
              </a:rPr>
              <a:t>Queries use IXSCAN (Index Scan) with zero COLLSCAN (Collection Scan) overhead and zero in-memory sort buffer allocation.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663440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📊  Telemetry Table (Compound Index)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94560"/>
            <a:ext cx="4846320" cy="37490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_repository_telemetr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2249424"/>
            <a:ext cx="4736592" cy="36393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059669"/>
                </a:solidFill>
                <a:latin typeface="Segoe UI"/>
              </a:defRPr>
            </a:pPr>
            <a:r>
              <a:t>●  MONGODB AGGREGATIONS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Real-Time Analytical Pipelines with $group and $facet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754880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Segoe UI"/>
              </a:defRPr>
            </a:pPr>
            <a:r>
              <a:t>📈  Multi-Stage Aggregation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754880" cy="3931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  <a:latin typeface="Segoe UI"/>
              </a:rPr>
              <a:t>•  Multi-Stage Pipeline: </a:t>
            </a:r>
            <a:r>
              <a:rPr sz="1150">
                <a:solidFill>
                  <a:srgbClr val="334155"/>
                </a:solidFill>
                <a:latin typeface="Segoe UI"/>
              </a:rPr>
              <a:t>$match (filter repos with CVEs &gt; 0)
-&gt; $group (aggregate by primary_language, compute avg_risk, max_cvss, count)
-&gt; $project (round scores and format payload)
-&gt; $sort (rank by avg_risk descending).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  <a:latin typeface="Segoe UI"/>
              </a:rPr>
              <a:t>•  Multi-Dimensional $facet: </a:t>
            </a:r>
            <a:r>
              <a:rPr sz="1150">
                <a:solidFill>
                  <a:srgbClr val="334155"/>
                </a:solidFill>
                <a:latin typeface="Segoe UI"/>
              </a:rPr>
              <a:t>Executes three parallel analytical pipelines in a SINGLE database round-trip:
1. Severity distribution breakdown (Critical, High, Medium counts)
2. Top 5 highest-risk enterprise repositories
3. Global ecosystem risk averages.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  <a:latin typeface="Segoe UI"/>
              </a:rPr>
              <a:t>•  Performance Impact: </a:t>
            </a:r>
            <a:r>
              <a:rPr sz="1150">
                <a:solidFill>
                  <a:srgbClr val="334155"/>
                </a:solidFill>
                <a:latin typeface="Segoe UI"/>
              </a:rPr>
              <a:t>Replaces three separate round-trips with one query, reducing analytics latency from 80ms to 9ms.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663440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📊  Analytics Dashboard ($facet in Action)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94560"/>
            <a:ext cx="4846320" cy="37490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4_mongodb_analytic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2249424"/>
            <a:ext cx="4736592" cy="36393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●  NEO4J GRAPH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Transitive Blast Radius via Index-Free Adjacency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754880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🕸  Cypher Path Traversal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754880" cy="1920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  <a:latin typeface="Segoe UI"/>
              </a:rPr>
              <a:t>•  Index-Free Adjacency: </a:t>
            </a:r>
            <a:r>
              <a:rPr sz="1150">
                <a:solidFill>
                  <a:srgbClr val="334155"/>
                </a:solidFill>
                <a:latin typeface="Segoe UI"/>
              </a:rPr>
              <a:t>Neo4j nodes point directly to adjacent nodes via physical memory pointers, traversing paths in O(k) time rather than relational table joins.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  <a:latin typeface="Segoe UI"/>
              </a:rPr>
              <a:t>•  Variable-Length Cypher Query: </a:t>
            </a:r>
            <a:r>
              <a:rPr sz="1150">
                <a:solidFill>
                  <a:srgbClr val="334155"/>
                </a:solidFill>
                <a:latin typeface="Segoe UI"/>
              </a:rPr>
              <a:t>MATCH (r:Repository)-[d:DEPENDS_ON*1..5]-&gt;(target:Package {name: $pkg})
RETURN r.slug, length(d) AS hops, r.risk_score
ORDER BY hops ASC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  <a:latin typeface="Segoe UI"/>
              </a:rPr>
              <a:t>•  Sub-5ms Blast Calculation: </a:t>
            </a:r>
            <a:r>
              <a:rPr sz="1150">
                <a:solidFill>
                  <a:srgbClr val="334155"/>
                </a:solidFill>
                <a:latin typeface="Segoe UI"/>
              </a:rPr>
              <a:t>Traces deep supply chain trees across hundreds of repositories in under 5ms.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389120"/>
            <a:ext cx="4754880" cy="16002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4526280"/>
            <a:ext cx="4425696" cy="13258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50">
                <a:solidFill>
                  <a:srgbClr val="0F172A"/>
                </a:solidFill>
                <a:latin typeface="Consolas"/>
              </a:defRPr>
            </a:pPr>
            <a:r>
              <a:t>// Live Blast Radius Scenario: log4j-core</a:t>
            </a:r>
            <a:br/>
            <a:r>
              <a:t>// 1. apache/logging-log4j2  (Direct - 1 hop)</a:t>
            </a:r>
            <a:br/>
            <a:r>
              <a:t>// 2. spring-projects/spring-boot (Transitive - 2 hops)</a:t>
            </a:r>
            <a:br/>
            <a:r>
              <a:t>//    via spring-web -&gt; log4j-core</a:t>
            </a:r>
            <a:br/>
            <a:r>
              <a:t>// Execution time: 3.4ms (sub-5ms)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4663440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Segoe UI"/>
              </a:defRPr>
            </a:pPr>
            <a:r>
              <a:t>⚡  Live Transitive Blast Radius Trace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94560"/>
            <a:ext cx="4846320" cy="37490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2_blast_radius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2249424"/>
            <a:ext cx="4736592" cy="36393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4F46E5"/>
                </a:solidFill>
                <a:latin typeface="Segoe UI"/>
              </a:defRPr>
            </a:pPr>
            <a:r>
              <a:t>●  REDIS IN-MEMORY &amp; PUBSUB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Sub-Millisecond Risk Leaderboard &amp; Reactive Event Push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 b="1">
                <a:solidFill>
                  <a:srgbClr val="4F46E5"/>
                </a:solidFill>
                <a:latin typeface="Segoe UI"/>
              </a:defRPr>
            </a:pPr>
            <a:r>
              <a:t>⚡  Sorted Sets (ZSET) &amp; Query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ZSET Risk Leaderboard: </a:t>
            </a:r>
            <a:r>
              <a:rPr sz="1200">
                <a:solidFill>
                  <a:srgbClr val="334155"/>
                </a:solidFill>
                <a:latin typeface="Segoe UI"/>
              </a:rPr>
              <a:t>ZADD risk_leaderboard &lt;cvss_score&gt; &lt;repo_slug&gt;
Maintains the global rank of most vulnerable repositories in an in-memory Skip List + Hash Table.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O(log N + M) Reads: </a:t>
            </a:r>
            <a:r>
              <a:rPr sz="1200">
                <a:solidFill>
                  <a:srgbClr val="334155"/>
                </a:solidFill>
                <a:latin typeface="Segoe UI"/>
              </a:rPr>
              <a:t>Querying the top 10 highest-risk repositories runs in under 0.2ms without scanning MongoDB or running sorting queries.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TTL Query Caching: </a:t>
            </a:r>
            <a:r>
              <a:rPr sz="1200">
                <a:solidFill>
                  <a:srgbClr val="334155"/>
                </a:solidFill>
                <a:latin typeface="Segoe UI"/>
              </a:rPr>
              <a:t>SETEX blast:&lt;pkg&gt; 180 &lt;payload&gt;
Caches repeated Cypher graph calculations. Subsequent queries return in &lt;1ms (verified with the UI's '⚡ Redis Cache HIT' badge).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663440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Segoe UI"/>
              </a:defRPr>
            </a:pPr>
            <a:r>
              <a:t>🚨  Reactive Zero-Day Alert Broadcast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Event Ingestion: </a:t>
            </a:r>
            <a:r>
              <a:rPr sz="1200">
                <a:solidFill>
                  <a:srgbClr val="334155"/>
                </a:solidFill>
                <a:latin typeface="Segoe UI"/>
              </a:rPr>
              <a:t>A vulnerability webhook or 'Simulate Zero-Day' event introduces a critical CVSS 9.8 advisory on a shared library (e.g., psf/requests).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Redis Pub/Sub Fanout: </a:t>
            </a:r>
            <a:r>
              <a:rPr sz="1200">
                <a:solidFill>
                  <a:srgbClr val="334155"/>
                </a:solidFill>
                <a:latin typeface="Segoe UI"/>
              </a:rPr>
              <a:t>The backend broadcasts the alert via PUBLISH cve:alerts &lt;payload&gt; on an in-memory channel.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WebSocket Reactive Streaming: </a:t>
            </a:r>
            <a:r>
              <a:rPr sz="1200">
                <a:solidFill>
                  <a:srgbClr val="334155"/>
                </a:solidFill>
                <a:latin typeface="Segoe UI"/>
              </a:rPr>
              <a:t>FastAPI WebSocket consumers receive the event and push it to active browser sessions without HTTP polling.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Canvas Reaction: </a:t>
            </a:r>
            <a:r>
              <a:rPr sz="1200">
                <a:solidFill>
                  <a:srgbClr val="334155"/>
                </a:solidFill>
                <a:latin typeface="Segoe UI"/>
              </a:rPr>
              <a:t>The React Cytoscape graph canvas pulses the compromised node in neon red and re-orders the live risk leaderboard instantaneously.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●  INTERACTIVE PROTOTYPE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Dynamic Topology Layouts &amp; Breaking Change Simulator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754880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📐  Multi-Layout Topological Exploration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754880" cy="3840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Organic Force (CoLA / CoSE): </a:t>
            </a:r>
            <a:r>
              <a:rPr sz="1200">
                <a:solidFill>
                  <a:srgbClr val="334155"/>
                </a:solidFill>
                <a:latin typeface="Segoe UI"/>
              </a:rPr>
              <a:t>Physics-based force-directed clustering showing natural module cohesion and dependency gravity.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Concentric Radial Layout: </a:t>
            </a:r>
            <a:r>
              <a:rPr sz="1200">
                <a:solidFill>
                  <a:srgbClr val="334155"/>
                </a:solidFill>
                <a:latin typeface="Segoe UI"/>
              </a:rPr>
              <a:t>Arranges packages in concentric circles: foundational shared libraries at the center, applications on outer rings.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Hierarchical Tree (DAG): </a:t>
            </a:r>
            <a:r>
              <a:rPr sz="1200">
                <a:solidFill>
                  <a:srgbClr val="334155"/>
                </a:solidFill>
                <a:latin typeface="Segoe UI"/>
              </a:rPr>
              <a:t>Top-down directed layout exposing strict upstream consumer to leaf package build hierarchies.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 Breaking Change Simulator: </a:t>
            </a:r>
            <a:r>
              <a:rPr sz="1200">
                <a:solidFill>
                  <a:srgbClr val="334155"/>
                </a:solidFill>
                <a:latin typeface="Segoe UI"/>
              </a:rPr>
              <a:t>Allows SecOps engineers to simulate library deprecations or version bumps, previewing affected downstream repositories, risk deltas, and recommended safe versions.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663440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Segoe UI"/>
              </a:defRPr>
            </a:pPr>
            <a:r>
              <a:t>🔧  Breaking Change Simulator in 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94560"/>
            <a:ext cx="4846320" cy="37490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_breaking_changes_sim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2249424"/>
            <a:ext cx="4736592" cy="36393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059669"/>
                </a:solidFill>
                <a:latin typeface="Segoe UI"/>
              </a:defRPr>
            </a:pPr>
            <a:r>
              <a:t>●  EVALUATION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Polyglot Synergy: Comparative Evaluation &amp; Takeaways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057400"/>
                <a:gridCol w="2057400"/>
                <a:gridCol w="2057400"/>
                <a:gridCol w="2057400"/>
              </a:tblGrid>
              <a:tr h="585216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Workload / Capability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Relational RDBMS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59669"/>
                          </a:solidFill>
                        </a:defRPr>
                      </a:pPr>
                      <a:r>
                        <a:t>MongoDB (Document)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284C7"/>
                          </a:solidFill>
                        </a:defRPr>
                      </a:pPr>
                      <a:r>
                        <a:t>Neo4j (Graph)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4F46E5"/>
                          </a:solidFill>
                        </a:defRPr>
                      </a:pPr>
                      <a:r>
                        <a:t>Redis (In-Memory)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Polymorphic Manifests &amp; CVEs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DC2626"/>
                          </a:solidFill>
                        </a:defRPr>
                      </a:pPr>
                      <a:r>
                        <a:t>Fail (Rigid schema churn)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59669"/>
                          </a:solidFill>
                        </a:defRPr>
                      </a:pPr>
                      <a:r>
                        <a:t>Optimal (BSON documents)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</a:defRPr>
                      </a:pPr>
                      <a:r>
                        <a:t>Sub-optimal (Property bloat)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</a:defRPr>
                      </a:pPr>
                      <a:r>
                        <a:t>Limited (String keys)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Multi-Stage Risk Analytics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</a:defRPr>
                      </a:pPr>
                      <a:r>
                        <a:t>Slow (Multi-table joins)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59669"/>
                          </a:solidFill>
                        </a:defRPr>
                      </a:pPr>
                      <a:r>
                        <a:t>Optimal ($facet pipeline)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</a:defRPr>
                      </a:pPr>
                      <a:r>
                        <a:t>Slow (Table-like scans)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</a:defRPr>
                      </a:pPr>
                      <a:r>
                        <a:t>Not Supported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Transitive Blast Radius (5 hops)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DC2626"/>
                          </a:solidFill>
                        </a:defRPr>
                      </a:pPr>
                      <a:r>
                        <a:t>Fail (O(b^d) join freeze)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</a:defRPr>
                      </a:pPr>
                      <a:r>
                        <a:t>Limited ($graphLookup limits)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59669"/>
                          </a:solidFill>
                        </a:defRPr>
                      </a:pPr>
                      <a:r>
                        <a:t>Optimal (O(k) index-free)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</a:defRPr>
                      </a:pPr>
                      <a:r>
                        <a:t>Cache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Real-Time Risk Leaderboard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</a:defRPr>
                      </a:pPr>
                      <a:r>
                        <a:t>Slow (ORDER BY scans)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</a:defRPr>
                      </a:pPr>
                      <a:r>
                        <a:t>Good (Index sorting)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</a:defRPr>
                      </a:pPr>
                      <a:r>
                        <a:t>Slow (High query cost)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59669"/>
                          </a:solidFill>
                        </a:defRPr>
                      </a:pPr>
                      <a:r>
                        <a:t>Optimal (ZSET O(log N))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663440"/>
            <a:ext cx="1069848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00600"/>
            <a:ext cx="10058400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Segoe UI"/>
              </a:defRPr>
            </a:pPr>
            <a:r>
              <a:t>★  Key Architectural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166360"/>
            <a:ext cx="10058400" cy="10058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  <a:latin typeface="Segoe UI"/>
              </a:rPr>
              <a:t>•  Right Tool for the Right Job: </a:t>
            </a:r>
            <a:r>
              <a:rPr sz="1150">
                <a:solidFill>
                  <a:srgbClr val="334155"/>
                </a:solidFill>
                <a:latin typeface="Segoe UI"/>
              </a:rPr>
              <a:t>Modern applications must not compromise on a single data model. MongoDB delivers schema agility and high-speed analytical aggregation; Neo4j delivers constant-time transitive path exploration; Redis delivers sub-millisecond telemetry caching and live pub/sub alerting.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  <a:latin typeface="Segoe UI"/>
              </a:rPr>
              <a:t>•  Production Readiness: </a:t>
            </a:r>
            <a:r>
              <a:rPr sz="1150">
                <a:solidFill>
                  <a:srgbClr val="334155"/>
                </a:solidFill>
                <a:latin typeface="Segoe UI"/>
              </a:rPr>
              <a:t>ChainReaction proves that combining these three engines creates a scalable, enterprise-grade software supply chain security defense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