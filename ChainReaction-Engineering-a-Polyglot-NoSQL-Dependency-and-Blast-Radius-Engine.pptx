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77240"/>
            <a:ext cx="3291840" cy="3200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SOFTWARE SUPPLY CHAIN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035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0F172A"/>
                </a:solidFill>
              </a:defRPr>
            </a:pPr>
            <a:r>
              <a:t>ChainReaction</a:t>
            </a:r>
          </a:p>
          <a:p>
            <a:pPr>
              <a:spcBef>
                <a:spcPts val="400"/>
              </a:spcBef>
              <a:defRPr sz="2000" b="1">
                <a:solidFill>
                  <a:srgbClr val="0284C7"/>
                </a:solidFill>
              </a:defRPr>
            </a:pPr>
            <a:r>
              <a:t>Built around the workload</a:t>
            </a:r>
          </a:p>
          <a:p>
            <a:pPr>
              <a:spcBef>
                <a:spcPts val="600"/>
              </a:spcBef>
              <a:defRPr sz="1300">
                <a:solidFill>
                  <a:srgbClr val="64748B"/>
                </a:solidFill>
              </a:defRPr>
            </a:pPr>
            <a:r>
              <a:t>Real-Time Polyglot NoSQL Dependency &amp; Transitive Blast Radius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4846320" cy="1371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4612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MongoDB  ·  Neo4j  ·  Redis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</a:defRPr>
            </a:pPr>
            <a:r>
              <a:t>• MongoDB: Polymorphic manifests, schema validation &amp; analytics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Neo4j: Multi-hop graph traversal for transitive blast paths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Redis: Sub-millisecond risk rank leaderboard &amp; live alert ticker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17720"/>
            <a:ext cx="484632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754880"/>
            <a:ext cx="4389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FastAPI  +  React Cytoscape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Asynchronous ASGI API coordinating the three stores; pushes live WebSocket zero-day telemetry directly to the interactive canvas.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1645920"/>
            <a:ext cx="5669280" cy="284202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dashbo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3016" y="1682496"/>
            <a:ext cx="5596128" cy="27688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Siddhant Mishra   |   AIM3141 NoSQL Database   |   Manipal University Jaipur   |   github.com/Sid-V5/ChainReaction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THE FAILURE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One buried package can expose every service above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4206240" cy="4663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200" b="1">
                <a:solidFill>
                  <a:srgbClr val="DC2626"/>
                </a:solidFill>
                <a:latin typeface="Segoe UI"/>
              </a:defRPr>
            </a:pPr>
            <a:r>
              <a:t>10.0</a:t>
            </a:r>
          </a:p>
          <a:p>
            <a:pPr>
              <a:spcBef>
                <a:spcPts val="400"/>
              </a:spcBef>
              <a:defRPr sz="1200" b="1">
                <a:solidFill>
                  <a:srgbClr val="DC2626"/>
                </a:solidFill>
              </a:defRPr>
            </a:pPr>
            <a:r>
              <a:t>LOG4SHELL · CVSS CRITICAL</a:t>
            </a:r>
          </a:p>
          <a:p>
            <a:pPr>
              <a:spcBef>
                <a:spcPts val="800"/>
              </a:spcBef>
              <a:defRPr sz="1800" b="1">
                <a:solidFill>
                  <a:srgbClr val="0F172A"/>
                </a:solidFill>
              </a:defRPr>
            </a:pPr>
            <a:r>
              <a:t>CVE-2021-44228</a:t>
            </a:r>
          </a:p>
          <a:p>
            <a:pPr>
              <a:spcBef>
                <a:spcPts val="1000"/>
              </a:spcBef>
              <a:defRPr sz="1300">
                <a:solidFill>
                  <a:srgbClr val="334155"/>
                </a:solidFill>
              </a:defRPr>
            </a:pPr>
            <a:r>
              <a:t>A simple logging utility became an all-hands zero-day emergency for thousands of engineering teams worldwide.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508760"/>
            <a:ext cx="6126480" cy="21945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169164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The Transitive Dependency Blindspot</a:t>
            </a:r>
          </a:p>
          <a:p>
            <a:pPr>
              <a:spcBef>
                <a:spcPts val="800"/>
              </a:spcBef>
              <a:defRPr sz="1350">
                <a:solidFill>
                  <a:srgbClr val="334155"/>
                </a:solidFill>
              </a:defRPr>
            </a:pPr>
            <a:r>
              <a:t>Several layers down, the vulnerable package was completely invisible to developers. Modern applications pull 500+ direct and indirect dependencies. Nested dependency trees hide who actually depends on what.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3977639"/>
            <a:ext cx="6126480" cy="21945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416052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The Blast Radius Reality</a:t>
            </a:r>
          </a:p>
          <a:p>
            <a:pPr>
              <a:spcBef>
                <a:spcPts val="800"/>
              </a:spcBef>
              <a:defRPr sz="1350">
                <a:solidFill>
                  <a:srgbClr val="334155"/>
                </a:solidFill>
              </a:defRPr>
            </a:pPr>
            <a:r>
              <a:t>Blast radius stays unseen until someone traces it by hand. Conventional flat scanners dump disconnected CSV vulnerability lists without computing graph geometry or upstream impact paths.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284C7"/>
                </a:solidFill>
                <a:latin typeface="Segoe UI"/>
              </a:defRPr>
            </a:pPr>
            <a:r>
              <a:t>POLYGLOT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No single database fits all three workloads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1732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394960"/>
              </a:tblGrid>
              <a:tr h="571500">
                <a:tc>
                  <a:txBody>
                    <a:bodyPr wrap="square"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Workload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Engine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Why a single store stalls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Manifests, CVE advisories, aggregations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MongoDB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</a:defRPr>
                      </a:pPr>
                      <a:r>
                        <a:t>Flexible records fit documents naturally; repeated path expansion does not.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Multi-hop dependency traversal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</a:defRPr>
                      </a:pPr>
                      <a:r>
                        <a:t>Neo4j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</a:defRPr>
                      </a:pPr>
                      <a:r>
                        <a:t>Relationships are native; document joins add exponential traversal overhead.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Risk ranking, query cache, alert broadcast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7C3AED"/>
                          </a:solidFill>
                        </a:defRPr>
                      </a:pPr>
                      <a:r>
                        <a:t>Redis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</a:defRPr>
                      </a:pPr>
                      <a:r>
                        <a:t>Hot reads and broadcasts need a dedicated in-memory sub-millisecond path.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3977639"/>
            <a:ext cx="5120640" cy="2514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0520"/>
            <a:ext cx="466344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284C7"/>
                </a:solidFill>
              </a:defRPr>
            </a:pPr>
            <a:r>
              <a:t>FastAPI Orchestrates the Triad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One unified asynchronous API coordinates MongoDB document writes, synchronizes Neo4j graph relationships, and broadcasts Redis WebSocket events to the React Cytoscape frontend.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77639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dashbo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4014215"/>
            <a:ext cx="5138928" cy="25396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DOCUMENT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Polymorphic manifests fit BSON documents naturally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754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0992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ILLUSTRATIVE REPOSITORY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002536"/>
            <a:ext cx="4626864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MongoDB BSON Collection: repositories</a:t>
            </a:r>
            <a:br/>
            <a:r>
              <a:t>{</a:t>
            </a:r>
            <a:br/>
            <a:r>
              <a:t>  repo: "apache/logging-log4j2",</a:t>
            </a:r>
            <a:br/>
            <a:r>
              <a:t>  primary_language: "Java",</a:t>
            </a:r>
            <a:br/>
            <a:r>
              <a:t>  dependencies: [</a:t>
            </a:r>
            <a:br/>
            <a:r>
              <a:t>    { name: "log4j-core", version: "2.14.1", is_direct: true }</a:t>
            </a:r>
            <a:br/>
            <a:r>
              <a:t>  ],</a:t>
            </a:r>
            <a:br/>
            <a:r>
              <a:t>  cves: [</a:t>
            </a:r>
            <a:br/>
            <a:r>
              <a:t>    {</a:t>
            </a:r>
            <a:br/>
            <a:r>
              <a:t>      id: "CVE-2021-44228",</a:t>
            </a:r>
            <a:br/>
            <a:r>
              <a:t>      severity: "CRITICAL",</a:t>
            </a:r>
            <a:br/>
            <a:r>
              <a:t>      cvss: 10.0,</a:t>
            </a:r>
            <a:br/>
            <a:r>
              <a:t>      affected_packages: ["log4j-core"]</a:t>
            </a:r>
            <a:br/>
            <a:r>
              <a:t>    }</a:t>
            </a:r>
            <a:br/>
            <a:r>
              <a:t>  ],</a:t>
            </a:r>
            <a:br/>
            <a:r>
              <a:t>  last_scanned: ISODate("2026-10-06T10:15:00Z")</a:t>
            </a:r>
            <a:br/>
            <a: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2240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75488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One Collection, Multiple Ecosystem Shapes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package.json, requirements.txt, and pom.xml have fundamentally different manifest structures. BSON stores all ecosystems in one collection without migrations or rigid column conversions.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212080" cy="2240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206240"/>
            <a:ext cx="475488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Dependencies &amp; Advisories Stay Nested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The repository document carries an embedded dependencies array alongside active CVEs with severity, CVSS scores, and affected packages in a single atomic record.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WRITE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The database enforces structure, not the 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754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0992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COLLECTION-LEVEL VALIDATOR · EXCERPT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002536"/>
            <a:ext cx="4626864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db.createCollection("repositories", {</a:t>
            </a:r>
            <a:br/>
            <a:r>
              <a:t>  validator: { $jsonSchema: {</a:t>
            </a:r>
            <a:br/>
            <a:r>
              <a:t>    bsonType: "object",</a:t>
            </a:r>
            <a:br/>
            <a:r>
              <a:t>    required: ["repo", "primary_language"],</a:t>
            </a:r>
            <a:br/>
            <a:r>
              <a:t>    properties: {</a:t>
            </a:r>
            <a:br/>
            <a:r>
              <a:t>      repo: { bsonType: "string" },</a:t>
            </a:r>
            <a:br/>
            <a:r>
              <a:t>      primary_language: { enum: ["Java", "JavaScript", "Python"] },</a:t>
            </a:r>
            <a:br/>
            <a:r>
              <a:t>      cves: {</a:t>
            </a:r>
            <a:br/>
            <a:r>
              <a:t>        bsonType: "array",</a:t>
            </a:r>
            <a:br/>
            <a:r>
              <a:t>        items: {</a:t>
            </a:r>
            <a:br/>
            <a:r>
              <a:t>          bsonType: "object",</a:t>
            </a:r>
            <a:br/>
            <a:r>
              <a:t>          properties: {</a:t>
            </a:r>
            <a:br/>
            <a:r>
              <a:t>            cvss: { bsonType: "number", minimum: 0, maximum: 10 }</a:t>
            </a:r>
            <a:br/>
            <a:r>
              <a:t>          }</a:t>
            </a:r>
            <a:br/>
            <a:r>
              <a:t>        }</a:t>
            </a:r>
            <a:br/>
            <a:r>
              <a:t>      }</a:t>
            </a:r>
            <a:br/>
            <a:r>
              <a:t>    }</a:t>
            </a:r>
            <a:br/>
            <a:r>
              <a:t>  }}</a:t>
            </a:r>
            <a:br/>
            <a:r>
              <a:t>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08760"/>
            <a:ext cx="52120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59669"/>
                </a:solidFill>
              </a:defRPr>
            </a:pPr>
            <a:r>
              <a:t>Every client meets the same contract.</a:t>
            </a:r>
          </a:p>
          <a:p>
            <a:pPr>
              <a:spcBef>
                <a:spcPts val="400"/>
              </a:spcBef>
              <a:defRPr sz="1250">
                <a:solidFill>
                  <a:srgbClr val="334155"/>
                </a:solidFill>
              </a:defRPr>
            </a:pPr>
            <a:r>
              <a:t>Required fields, BSON type checks, a language enum, and CVSS bounds are enforced inside the database engine.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560320"/>
            <a:ext cx="5212080" cy="1691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9748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✓  Valid Write</a:t>
            </a:r>
          </a:p>
          <a:p>
            <a:pPr>
              <a:spcBef>
                <a:spcPts val="400"/>
              </a:spcBef>
              <a:defRPr sz="1250">
                <a:solidFill>
                  <a:srgbClr val="334155"/>
                </a:solidFill>
              </a:defRPr>
            </a:pPr>
            <a:r>
              <a:t>Accepted directly by the collection validator without application-level overhead.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526280"/>
            <a:ext cx="5212080" cy="1691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6344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DC2626"/>
                </a:solidFill>
              </a:defRPr>
            </a:pPr>
            <a:r>
              <a:t>✕  Invalid Write</a:t>
            </a:r>
          </a:p>
          <a:p>
            <a:pPr>
              <a:spcBef>
                <a:spcPts val="400"/>
              </a:spcBef>
              <a:defRPr sz="1250">
                <a:solidFill>
                  <a:srgbClr val="334155"/>
                </a:solidFill>
              </a:defRPr>
            </a:pPr>
            <a:r>
              <a:t>Rejected immediately at the engine, preventing corrupt records from external scripts or services.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COMPUTED + EXTENDED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Pre-compute risk on write, so reads stay cheap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Store risk_score on each repository; render CLEAN / ELEV / CRIT badges without recomputing risk on reads.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24028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88720"/>
                <a:gridCol w="1188720"/>
              </a:tblGrid>
              <a:tr h="420624">
                <a:tc>
                  <a:txBody>
                    <a:bodyPr wrap="square"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Prototype repo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Badge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apache/logging-log4j2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80.0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DC2626"/>
                          </a:solidFill>
                        </a:defRPr>
                      </a:pPr>
                      <a:r>
                        <a:t>CRIT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spring-projects/spring-boot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78.5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DC2626"/>
                          </a:solidFill>
                        </a:defRPr>
                      </a:pPr>
                      <a:r>
                        <a:t>CRIT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pallets/flask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61.2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DC2626"/>
                          </a:solidFill>
                        </a:defRPr>
                      </a:pPr>
                      <a:r>
                        <a:t>CRIT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psf/requests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44.8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</a:defRPr>
                      </a:pPr>
                      <a:r>
                        <a:t>ELEV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526280"/>
            <a:ext cx="5303520" cy="1737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66344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Copy the hot fields, retain the link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Embed frequently queried CVE id, severity, and score directly in the repository manifest for instant table rendering; link to full advisories in canonical collections.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repository_telemetr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1682496"/>
            <a:ext cx="5138928" cy="253968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4526280"/>
            <a:ext cx="5212080" cy="1737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6344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Zero-Join Manifest Retrieval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The monitored repository view renders stars, languages, and severity badges from a single collection fetch—eliminating costly multi-table SQL joins.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ACCESS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Compound indexes match the way analysts filter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28416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29626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01  ·  Equality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Filter on primary_language.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6552" y="1508760"/>
            <a:ext cx="3328416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600200"/>
            <a:ext cx="29626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02  ·  Ordered scan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Read stars descending.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4" y="1508760"/>
            <a:ext cx="3328416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4464" y="1600200"/>
            <a:ext cx="29626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03  ·  No blocking sort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The compound index supplies the order.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5212080" cy="33832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12724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INDEX DEFINITION &amp; EXPLAIN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419856"/>
            <a:ext cx="4626864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db.repositories.createIndex({</a:t>
            </a:r>
            <a:br/>
            <a:r>
              <a:t>  primary_language: 1, stars: -1</a:t>
            </a:r>
            <a:br/>
            <a:r>
              <a:t>})</a:t>
            </a:r>
            <a:br/>
            <a:r>
              <a:t>db.repositories.createIndex({ repo: "text" })</a:t>
            </a:r>
            <a:br/>
            <a:br/>
            <a:r>
              <a:t>db.repositories.find({</a:t>
            </a:r>
            <a:br/>
            <a:r>
              <a:t>  primary_language: "Java"</a:t>
            </a:r>
            <a:br/>
            <a:r>
              <a:t>}).sort({ stars: -1 }).explain("executionStats")</a:t>
            </a:r>
            <a:br/>
            <a:br/>
            <a:r>
              <a:t>// Winning-plan stage: IXSCAN</a:t>
            </a:r>
            <a:br/>
            <a:r>
              <a:t>// No blocking SORT for this query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01752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05_repository_telemetr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3054096"/>
            <a:ext cx="5138928" cy="25396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LIVE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Aggregation pipelines turn telemetry into live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  <a:r>
              <a:t>$match → $group → $project derives per-language risk index, CVE counts and peak CVSS. $facet runs parallel pipelines over one shared input scan.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303520" cy="43434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167128"/>
            <a:ext cx="4718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$FACET PIPELINE ·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459736"/>
            <a:ext cx="4718304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db.repositories.aggregate([</a:t>
            </a:r>
            <a:br/>
            <a:r>
              <a:t>  { $match: { risk_score: { $exists: true } } },</a:t>
            </a:r>
            <a:br/>
            <a:r>
              <a:t>  { $facet: {</a:t>
            </a:r>
            <a:br/>
            <a:r>
              <a:t>      byLanguage: [</a:t>
            </a:r>
            <a:br/>
            <a:r>
              <a:t>        { $group: {</a:t>
            </a:r>
            <a:br/>
            <a:r>
              <a:t>            _id: "$primary_language",</a:t>
            </a:r>
            <a:br/>
            <a:r>
              <a:t>            risk_index: { $avg: "$risk_score" }</a:t>
            </a:r>
            <a:br/>
            <a:r>
              <a:t>        }},</a:t>
            </a:r>
            <a:br/>
            <a:r>
              <a:t>        { $project: { _id: 0, language: "$_id", risk_index: 1 } }</a:t>
            </a:r>
            <a:br/>
            <a:r>
              <a:t>      ],</a:t>
            </a:r>
            <a:br/>
            <a:r>
              <a:t>      peak: [</a:t>
            </a:r>
            <a:br/>
            <a:r>
              <a:t>        { $unwind: "$cves" },</a:t>
            </a:r>
            <a:br/>
            <a:r>
              <a:t>        { $group: { _id: null, peak_cvss: { $max: "$cves.cvss" } } }</a:t>
            </a:r>
            <a:br/>
            <a:r>
              <a:t>      ]</a:t>
            </a:r>
            <a:br/>
            <a:r>
              <a:t>  }}</a:t>
            </a:r>
            <a:br/>
            <a:r>
              <a:t>])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6596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mongodb_analytic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2002536"/>
            <a:ext cx="5138928" cy="253968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4754880"/>
            <a:ext cx="5212080" cy="15544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892040"/>
            <a:ext cx="4754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12 repos  ·  7 active CVEs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Java risk index: 52.83   |   Peak CVSS: 10.0 (Log4Shell)</a:t>
            </a:r>
          </a:p>
          <a:p>
            <a:pPr>
              <a:spcBef>
                <a:spcPts val="200"/>
              </a:spcBef>
              <a:defRPr sz="1150">
                <a:solidFill>
                  <a:srgbClr val="64748B"/>
                </a:solidFill>
              </a:defRPr>
            </a:pPr>
            <a:r>
              <a:t>All computed dynamically via single-pass aggregation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284C7"/>
                </a:solidFill>
                <a:latin typeface="Segoe UI"/>
              </a:defRPr>
            </a:pPr>
            <a:r>
              <a:t>NEO4J · DEPENDENCY TRAVERSAL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Neo4j traces 1..5 hop blast radius where joins stall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7548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284C7"/>
                </a:solidFill>
              </a:defRPr>
            </a:pPr>
            <a:r>
              <a:t>Index-Free Adjacency</a:t>
            </a:r>
          </a:p>
          <a:p>
            <a:pPr>
              <a:spcBef>
                <a:spcPts val="600"/>
              </a:spcBef>
              <a:defRPr sz="1300">
                <a:solidFill>
                  <a:srgbClr val="334155"/>
                </a:solidFill>
              </a:defRPr>
            </a:pPr>
            <a:r>
              <a:t>Each hop follows relationship pointers directly in memory, not relational join tables. Sub-5ms traversal across deep microservice dependency graphs.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5212080" cy="26974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76732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CYPHER BLAST RADIUS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4059936"/>
            <a:ext cx="4626864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MATCH (p:Package)&lt;-[:DEPENDS_ON*1..5]-(r:Repository)</a:t>
            </a:r>
            <a:br/>
            <a:r>
              <a:t>WHERE p.name = "log4j-core"</a:t>
            </a:r>
            <a:br/>
            <a:r>
              <a:t>RETURN DISTINCT r.slug, length(path) AS depth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2_blast_radius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1545336"/>
            <a:ext cx="5138928" cy="253968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4343400"/>
            <a:ext cx="5212080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480560"/>
            <a:ext cx="47548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DC2626"/>
                </a:solidFill>
              </a:defRPr>
            </a:pPr>
            <a:r>
              <a:t>3 Services Exposed</a:t>
            </a:r>
          </a:p>
          <a:p>
            <a:pPr>
              <a:spcBef>
                <a:spcPts val="400"/>
              </a:spcBef>
              <a:defRPr sz="1300">
                <a:solidFill>
                  <a:srgbClr val="334155"/>
                </a:solidFill>
              </a:defRPr>
            </a:pPr>
            <a:r>
              <a:t>The log4j-core trace reached hop depths 1 and 2 in sub-5ms; repeat reads served as a Redis cache hit under 1ms.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7C3AED"/>
                </a:solidFill>
                <a:latin typeface="Segoe UI"/>
              </a:defRPr>
            </a:pPr>
            <a:r>
              <a:t>REDIS · LOW-LATENCY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Redis makes risk ranking and alerts instant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28416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2871216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7C3AED"/>
                </a:solidFill>
              </a:defRPr>
            </a:pPr>
            <a:r>
              <a:t>ZSET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t>Risk Leaderboard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Repository risk scores are sorted on write for ranked reads in O(log 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931920"/>
            <a:ext cx="2962656" cy="214884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413308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REDIS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4425696"/>
            <a:ext cx="2377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Consolas"/>
              </a:defRPr>
            </a:pPr>
            <a:r>
              <a:t>ZADD risk:repos 80.0 "apache/logging-log4j2"</a:t>
            </a:r>
            <a:br/>
            <a:r>
              <a:t>ZREVRANGE risk:repos 0 4 WITHSCORES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508760"/>
            <a:ext cx="3328416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691640"/>
            <a:ext cx="2871216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284C7"/>
                </a:solidFill>
              </a:defRPr>
            </a:pPr>
            <a:r>
              <a:t>TTL CACHE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t>Repeated Traces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TTL-cached blast-radius queries return in under 1ms; expiry bounds cache lifetime.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9432" y="3931920"/>
            <a:ext cx="2962656" cy="214884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413308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REDIS COMMAND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4425696"/>
            <a:ext cx="2377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Consolas"/>
              </a:defRPr>
            </a:pPr>
            <a:r>
              <a:t>SETEX trace:log4j-core 180 "{\"exposed\": 3}"</a:t>
            </a:r>
            <a:br/>
            <a:r>
              <a:t>GET trace:log4j-core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4" y="1508760"/>
            <a:ext cx="3328416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1691640"/>
            <a:ext cx="2871216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</a:defRPr>
            </a:pPr>
            <a:r>
              <a:t>PUB/SUB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t>Live CVE Ticker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New CVE zero-day alerts broadcast to WebSocket subscribers without database polling.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4464" y="3931920"/>
            <a:ext cx="2962656" cy="214884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413308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REDIS 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4425696"/>
            <a:ext cx="2377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Consolas"/>
              </a:defRPr>
            </a:pPr>
            <a:r>
              <a:t>PUBLISH cve:alerts "{\"cve\": \"CVE-2021-44228\"}"</a:t>
            </a:r>
            <a:br/>
            <a:r>
              <a:t>SUBSCRIBE cve:alerts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