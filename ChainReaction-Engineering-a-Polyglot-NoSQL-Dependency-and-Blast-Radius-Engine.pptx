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77240"/>
            <a:ext cx="3291840" cy="32004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59669"/>
                </a:solidFill>
              </a:defRPr>
            </a:pPr>
            <a:r>
              <a:t>SOFTWARE SUPPLY CHAIN TELEMETRY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530352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4400" b="1">
                <a:solidFill>
                  <a:srgbClr val="0F172A"/>
                </a:solidFill>
              </a:defRPr>
            </a:pPr>
            <a:r>
              <a:t>ChainReaction</a:t>
            </a:r>
          </a:p>
          <a:p>
            <a:pPr>
              <a:spcBef>
                <a:spcPts val="400"/>
              </a:spcBef>
              <a:defRPr sz="2000" b="1">
                <a:solidFill>
                  <a:srgbClr val="0284C7"/>
                </a:solidFill>
              </a:defRPr>
            </a:pPr>
            <a:r>
              <a:t>Built around the workload</a:t>
            </a:r>
          </a:p>
          <a:p>
            <a:pPr>
              <a:spcBef>
                <a:spcPts val="600"/>
              </a:spcBef>
              <a:defRPr sz="1300">
                <a:solidFill>
                  <a:srgbClr val="64748B"/>
                </a:solidFill>
              </a:defRPr>
            </a:pPr>
            <a:r>
              <a:t>Real-Time Polyglot NoSQL Dependency &amp; Transitive Blast Radius Engine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108960"/>
            <a:ext cx="4846320" cy="13716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246120"/>
            <a:ext cx="43891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1">
                <a:solidFill>
                  <a:srgbClr val="059669"/>
                </a:solidFill>
              </a:defRPr>
            </a:pPr>
            <a:r>
              <a:t>MongoDB  ·  Neo4j  ·  Redis</a:t>
            </a:r>
          </a:p>
          <a:p>
            <a:pPr>
              <a:spcBef>
                <a:spcPts val="400"/>
              </a:spcBef>
              <a:defRPr sz="1100">
                <a:solidFill>
                  <a:srgbClr val="334155"/>
                </a:solidFill>
              </a:defRPr>
            </a:pPr>
            <a:r>
              <a:t>• MongoDB: Polymorphic manifests, schema validation &amp; analytics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• Neo4j: Multi-hop graph traversal for transitive blast paths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• Redis: Sub-millisecond risk rank leaderboard &amp; live alert ticker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617720"/>
            <a:ext cx="4846320" cy="12344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4754880"/>
            <a:ext cx="43891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1">
                <a:solidFill>
                  <a:srgbClr val="0284C7"/>
                </a:solidFill>
              </a:defRPr>
            </a:pPr>
            <a:r>
              <a:t>FastAPI  +  React Cytoscape</a:t>
            </a:r>
          </a:p>
          <a:p>
            <a:pPr>
              <a:spcBef>
                <a:spcPts val="400"/>
              </a:spcBef>
              <a:defRPr sz="1150">
                <a:solidFill>
                  <a:srgbClr val="334155"/>
                </a:solidFill>
              </a:defRPr>
            </a:pPr>
            <a:r>
              <a:t>Asynchronous ASGI API coordinating the three stores; pushes live WebSocket zero-day telemetry directly to the interactive canvas.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06440" y="1645920"/>
            <a:ext cx="5669280" cy="2842029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1_dashboard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3016" y="1682496"/>
            <a:ext cx="5596128" cy="276887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31520" y="6172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>
                <a:solidFill>
                  <a:srgbClr val="64748B"/>
                </a:solidFill>
              </a:defRPr>
            </a:pPr>
            <a:r>
              <a:t>Siddhant Mishra   |   AIM3141 NoSQL Database   |   Manipal University Jaipur   |   github.com/Sid-V5/ChainReaction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291840" cy="292608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tIns="36576"/>
          <a:lstStyle/>
          <a:p>
            <a:pPr algn="ctr">
              <a:defRPr sz="1000" b="1">
                <a:solidFill>
                  <a:srgbClr val="DC2626"/>
                </a:solidFill>
                <a:latin typeface="Segoe UI"/>
              </a:defRPr>
            </a:pPr>
            <a:r>
              <a:t>THE FAILURE MODE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500" b="1">
                <a:solidFill>
                  <a:srgbClr val="0F172A"/>
                </a:solidFill>
                <a:latin typeface="Segoe UI"/>
              </a:defRPr>
            </a:pPr>
            <a:r>
              <a:t>One buried package can expose every service above 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4206240" cy="46634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783080"/>
            <a:ext cx="365760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7200" b="1">
                <a:solidFill>
                  <a:srgbClr val="DC2626"/>
                </a:solidFill>
                <a:latin typeface="Segoe UI"/>
              </a:defRPr>
            </a:pPr>
            <a:r>
              <a:t>10.0</a:t>
            </a:r>
          </a:p>
          <a:p>
            <a:pPr>
              <a:spcBef>
                <a:spcPts val="400"/>
              </a:spcBef>
              <a:defRPr sz="1200" b="1">
                <a:solidFill>
                  <a:srgbClr val="DC2626"/>
                </a:solidFill>
              </a:defRPr>
            </a:pPr>
            <a:r>
              <a:t>LOG4SHELL · CVSS CRITICAL</a:t>
            </a:r>
          </a:p>
          <a:p>
            <a:pPr>
              <a:spcBef>
                <a:spcPts val="800"/>
              </a:spcBef>
              <a:defRPr sz="1800" b="1">
                <a:solidFill>
                  <a:srgbClr val="0F172A"/>
                </a:solidFill>
              </a:defRPr>
            </a:pPr>
            <a:r>
              <a:t>CVE-2021-44228</a:t>
            </a:r>
          </a:p>
          <a:p>
            <a:pPr>
              <a:spcBef>
                <a:spcPts val="1000"/>
              </a:spcBef>
              <a:defRPr sz="1300">
                <a:solidFill>
                  <a:srgbClr val="334155"/>
                </a:solidFill>
              </a:defRPr>
            </a:pPr>
            <a:r>
              <a:t>A simple logging utility became an all-hands zero-day emergency for thousands of engineering teams worldwide.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0" y="1508760"/>
            <a:ext cx="6126480" cy="21945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77840" y="1691640"/>
            <a:ext cx="55778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0F172A"/>
                </a:solidFill>
              </a:defRPr>
            </a:pPr>
            <a:r>
              <a:t>The Transitive Dependency Blindspot</a:t>
            </a:r>
          </a:p>
          <a:p>
            <a:pPr>
              <a:spcBef>
                <a:spcPts val="800"/>
              </a:spcBef>
              <a:defRPr sz="1350">
                <a:solidFill>
                  <a:srgbClr val="334155"/>
                </a:solidFill>
              </a:defRPr>
            </a:pPr>
            <a:r>
              <a:t>Several layers down, the vulnerable package was completely invisible to developers. Modern applications pull 500+ direct and indirect dependencies. Nested dependency trees hide who actually depends on what.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0" y="3977639"/>
            <a:ext cx="6126480" cy="21945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77840" y="4160520"/>
            <a:ext cx="55778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0F172A"/>
                </a:solidFill>
              </a:defRPr>
            </a:pPr>
            <a:r>
              <a:t>The Blast Radius Reality</a:t>
            </a:r>
          </a:p>
          <a:p>
            <a:pPr>
              <a:spcBef>
                <a:spcPts val="800"/>
              </a:spcBef>
              <a:defRPr sz="1350">
                <a:solidFill>
                  <a:srgbClr val="334155"/>
                </a:solidFill>
              </a:defRPr>
            </a:pPr>
            <a:r>
              <a:t>Blast radius stays unseen until someone traces it by hand. Conventional flat scanners dump disconnected CSV vulnerability lists without computing graph geometry or upstream impact paths.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291840" cy="292608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tIns="36576"/>
          <a:lstStyle/>
          <a:p>
            <a:pPr algn="ctr">
              <a:defRPr sz="1000" b="1">
                <a:solidFill>
                  <a:srgbClr val="0284C7"/>
                </a:solidFill>
                <a:latin typeface="Segoe UI"/>
              </a:defRPr>
            </a:pPr>
            <a:r>
              <a:t>POLYGLOT PERSISTENCE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500" b="1">
                <a:solidFill>
                  <a:srgbClr val="0F172A"/>
                </a:solidFill>
                <a:latin typeface="Segoe UI"/>
              </a:defRPr>
            </a:pPr>
            <a:r>
              <a:t>No single database fits all three workloads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417320"/>
          <a:ext cx="1069848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011680"/>
                <a:gridCol w="5394960"/>
              </a:tblGrid>
              <a:tr h="571500">
                <a:tc>
                  <a:txBody>
                    <a:bodyPr wrap="square"/>
                    <a:lstStyle/>
                    <a:p>
                      <a:pPr>
                        <a:defRPr b="1" sz="1300">
                          <a:solidFill>
                            <a:srgbClr val="0F172A"/>
                          </a:solidFill>
                        </a:defRPr>
                      </a:pPr>
                      <a:r>
                        <a:t>Workload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1" sz="1300">
                          <a:solidFill>
                            <a:srgbClr val="0F172A"/>
                          </a:solidFill>
                        </a:defRPr>
                      </a:pPr>
                      <a:r>
                        <a:t>Engine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1" sz="1300">
                          <a:solidFill>
                            <a:srgbClr val="0F172A"/>
                          </a:solidFill>
                        </a:defRPr>
                      </a:pPr>
                      <a:r>
                        <a:t>Why a single store stalls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>
                        <a:defRPr sz="1200" b="1">
                          <a:solidFill>
                            <a:srgbClr val="0F172A"/>
                          </a:solidFill>
                        </a:defRPr>
                      </a:pPr>
                      <a:r>
                        <a:t>Manifests, CVE advisories, aggregations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00" b="1">
                          <a:solidFill>
                            <a:srgbClr val="059669"/>
                          </a:solidFill>
                        </a:defRPr>
                      </a:pPr>
                      <a:r>
                        <a:t>MongoDB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</a:defRPr>
                      </a:pPr>
                      <a:r>
                        <a:t>Flexible records fit documents naturally; repeated path expansion does not.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>
                        <a:defRPr sz="1200" b="1">
                          <a:solidFill>
                            <a:srgbClr val="0F172A"/>
                          </a:solidFill>
                        </a:defRPr>
                      </a:pPr>
                      <a:r>
                        <a:t>Multi-hop dependency traversal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00" b="1">
                          <a:solidFill>
                            <a:srgbClr val="0284C7"/>
                          </a:solidFill>
                        </a:defRPr>
                      </a:pPr>
                      <a:r>
                        <a:t>Neo4j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</a:defRPr>
                      </a:pPr>
                      <a:r>
                        <a:t>Relationships are native; document joins add exponential traversal overhead.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>
                        <a:defRPr sz="1200" b="1">
                          <a:solidFill>
                            <a:srgbClr val="0F172A"/>
                          </a:solidFill>
                        </a:defRPr>
                      </a:pPr>
                      <a:r>
                        <a:t>Risk ranking, query cache, alert broadcast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00" b="1">
                          <a:solidFill>
                            <a:srgbClr val="7C3AED"/>
                          </a:solidFill>
                        </a:defRPr>
                      </a:pPr>
                      <a:r>
                        <a:t>Redis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</a:defRPr>
                      </a:pPr>
                      <a:r>
                        <a:t>Hot reads and broadcasts need a dedicated in-memory sub-millisecond path.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31520" y="3977639"/>
            <a:ext cx="5120640" cy="25146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4160520"/>
            <a:ext cx="4663440" cy="2148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0284C7"/>
                </a:solidFill>
              </a:defRPr>
            </a:pPr>
            <a:r>
              <a:t>FastAPI Orchestrates the Triad</a:t>
            </a:r>
          </a:p>
          <a:p>
            <a:pPr>
              <a:spcBef>
                <a:spcPts val="800"/>
              </a:spcBef>
              <a:defRPr sz="1250">
                <a:solidFill>
                  <a:srgbClr val="334155"/>
                </a:solidFill>
              </a:defRPr>
            </a:pPr>
            <a:r>
              <a:t>One unified asynchronous API coordinates MongoDB document writes, synchronizes Neo4j graph relationships, and broadcasts Redis WebSocket events to the React Cytoscape frontend.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3977639"/>
            <a:ext cx="5212080" cy="2612833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1_dashboard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4496" y="4014215"/>
            <a:ext cx="5138928" cy="253968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291840" cy="29260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tIns="36576"/>
          <a:lstStyle/>
          <a:p>
            <a:pPr algn="ctr">
              <a:defRPr sz="1000" b="1">
                <a:solidFill>
                  <a:srgbClr val="059669"/>
                </a:solidFill>
                <a:latin typeface="Segoe UI"/>
              </a:defRPr>
            </a:pPr>
            <a:r>
              <a:t>MONGODB · DOCUMENT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500" b="1">
                <a:solidFill>
                  <a:srgbClr val="0F172A"/>
                </a:solidFill>
                <a:latin typeface="Segoe UI"/>
              </a:defRPr>
            </a:pPr>
            <a:r>
              <a:t>Polymorphic manifests fit BSON documents naturally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5212080" cy="4754880"/>
          </a:xfrm>
          <a:prstGeom prst="roundRect">
            <a:avLst>
              <a:gd name="adj" fmla="val 3500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1709928"/>
            <a:ext cx="462686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1">
                <a:solidFill>
                  <a:srgbClr val="94A3B8"/>
                </a:solidFill>
                <a:latin typeface="Segoe UI"/>
              </a:defRPr>
            </a:pPr>
            <a:r>
              <a:t>ILLUSTRATIVE REPOSITORY DOCUMENT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2002536"/>
            <a:ext cx="4626864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>
                <a:solidFill>
                  <a:srgbClr val="38BDF8"/>
                </a:solidFill>
                <a:latin typeface="Consolas"/>
              </a:defRPr>
            </a:pPr>
            <a:r>
              <a:t>// MongoDB BSON Collection: repositories</a:t>
            </a:r>
            <a:br/>
            <a:r>
              <a:t>{</a:t>
            </a:r>
            <a:br/>
            <a:r>
              <a:t>  repo: "apache/logging-log4j2",</a:t>
            </a:r>
            <a:br/>
            <a:r>
              <a:t>  primary_language: "Java",</a:t>
            </a:r>
            <a:br/>
            <a:r>
              <a:t>  dependencies: [</a:t>
            </a:r>
            <a:br/>
            <a:r>
              <a:t>    { name: "log4j-core", version: "2.14.1", is_direct: true }</a:t>
            </a:r>
            <a:br/>
            <a:r>
              <a:t>  ],</a:t>
            </a:r>
            <a:br/>
            <a:r>
              <a:t>  cves: [</a:t>
            </a:r>
            <a:br/>
            <a:r>
              <a:t>    {</a:t>
            </a:r>
            <a:br/>
            <a:r>
              <a:t>      id: "CVE-2021-44228",</a:t>
            </a:r>
            <a:br/>
            <a:r>
              <a:t>      severity: "CRITICAL",</a:t>
            </a:r>
            <a:br/>
            <a:r>
              <a:t>      cvss: 10.0,</a:t>
            </a:r>
            <a:br/>
            <a:r>
              <a:t>      affected_packages: ["log4j-core"]</a:t>
            </a:r>
            <a:br/>
            <a:r>
              <a:t>    }</a:t>
            </a:r>
            <a:br/>
            <a:r>
              <a:t>  ],</a:t>
            </a:r>
            <a:br/>
            <a:r>
              <a:t>  last_scanned: ISODate("2026-10-06T10:15:00Z")</a:t>
            </a:r>
            <a:br/>
            <a:r>
              <a:t>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08760"/>
            <a:ext cx="5212080" cy="22402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691640"/>
            <a:ext cx="4754880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700" b="1">
                <a:solidFill>
                  <a:srgbClr val="0F172A"/>
                </a:solidFill>
              </a:defRPr>
            </a:pPr>
            <a:r>
              <a:t>One Collection, Multiple Ecosystem Shapes</a:t>
            </a:r>
          </a:p>
          <a:p>
            <a:pPr>
              <a:spcBef>
                <a:spcPts val="800"/>
              </a:spcBef>
              <a:defRPr sz="1250">
                <a:solidFill>
                  <a:srgbClr val="334155"/>
                </a:solidFill>
              </a:defRPr>
            </a:pPr>
            <a:r>
              <a:t>package.json, requirements.txt, and pom.xml have fundamentally different manifest structures. BSON stores all ecosystems in one collection without migrations or rigid column conversions.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4023360"/>
            <a:ext cx="5212080" cy="22402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4206240"/>
            <a:ext cx="4754880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700" b="1">
                <a:solidFill>
                  <a:srgbClr val="0F172A"/>
                </a:solidFill>
              </a:defRPr>
            </a:pPr>
            <a:r>
              <a:t>Dependencies &amp; Advisories Stay Nested</a:t>
            </a:r>
          </a:p>
          <a:p>
            <a:pPr>
              <a:spcBef>
                <a:spcPts val="800"/>
              </a:spcBef>
              <a:defRPr sz="1250">
                <a:solidFill>
                  <a:srgbClr val="334155"/>
                </a:solidFill>
              </a:defRPr>
            </a:pPr>
            <a:r>
              <a:t>The repository document carries an embedded dependencies array alongside active CVEs with severity, CVSS scores, and affected packages in a single atomic record.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291840" cy="29260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tIns="36576"/>
          <a:lstStyle/>
          <a:p>
            <a:pPr algn="ctr">
              <a:defRPr sz="1000" b="1">
                <a:solidFill>
                  <a:srgbClr val="059669"/>
                </a:solidFill>
                <a:latin typeface="Segoe UI"/>
              </a:defRPr>
            </a:pPr>
            <a:r>
              <a:t>MONGODB · WRITE CONTRACT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500" b="1">
                <a:solidFill>
                  <a:srgbClr val="0F172A"/>
                </a:solidFill>
                <a:latin typeface="Segoe UI"/>
              </a:defRPr>
            </a:pPr>
            <a:r>
              <a:t>The database enforces structure, not the ORM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5212080" cy="4754880"/>
          </a:xfrm>
          <a:prstGeom prst="roundRect">
            <a:avLst>
              <a:gd name="adj" fmla="val 3500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1709928"/>
            <a:ext cx="462686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1">
                <a:solidFill>
                  <a:srgbClr val="94A3B8"/>
                </a:solidFill>
                <a:latin typeface="Segoe UI"/>
              </a:defRPr>
            </a:pPr>
            <a:r>
              <a:t>COLLECTION-LEVEL VALIDATOR · EXCERPT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2002536"/>
            <a:ext cx="4626864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>
                <a:solidFill>
                  <a:srgbClr val="38BDF8"/>
                </a:solidFill>
                <a:latin typeface="Consolas"/>
              </a:defRPr>
            </a:pPr>
            <a:r>
              <a:t>db.createCollection("repositories", {</a:t>
            </a:r>
            <a:br/>
            <a:r>
              <a:t>  validator: { $jsonSchema: {</a:t>
            </a:r>
            <a:br/>
            <a:r>
              <a:t>    bsonType: "object",</a:t>
            </a:r>
            <a:br/>
            <a:r>
              <a:t>    required: ["repo", "primary_language"],</a:t>
            </a:r>
            <a:br/>
            <a:r>
              <a:t>    properties: {</a:t>
            </a:r>
            <a:br/>
            <a:r>
              <a:t>      repo: { bsonType: "string" },</a:t>
            </a:r>
            <a:br/>
            <a:r>
              <a:t>      primary_language: { enum: ["Java", "JavaScript", "Python"] },</a:t>
            </a:r>
            <a:br/>
            <a:r>
              <a:t>      cves: {</a:t>
            </a:r>
            <a:br/>
            <a:r>
              <a:t>        bsonType: "array",</a:t>
            </a:r>
            <a:br/>
            <a:r>
              <a:t>        items: {</a:t>
            </a:r>
            <a:br/>
            <a:r>
              <a:t>          bsonType: "object",</a:t>
            </a:r>
            <a:br/>
            <a:r>
              <a:t>          properties: {</a:t>
            </a:r>
            <a:br/>
            <a:r>
              <a:t>            cvss: { bsonType: "number", minimum: 0, maximum: 10 }</a:t>
            </a:r>
            <a:br/>
            <a:r>
              <a:t>          }</a:t>
            </a:r>
            <a:br/>
            <a:r>
              <a:t>        }</a:t>
            </a:r>
            <a:br/>
            <a:r>
              <a:t>      }</a:t>
            </a:r>
            <a:br/>
            <a:r>
              <a:t>    }</a:t>
            </a:r>
            <a:br/>
            <a:r>
              <a:t>  }}</a:t>
            </a:r>
            <a:br/>
            <a:r>
              <a:t>})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508760"/>
            <a:ext cx="52120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059669"/>
                </a:solidFill>
              </a:defRPr>
            </a:pPr>
            <a:r>
              <a:t>Every client meets the same contract.</a:t>
            </a:r>
          </a:p>
          <a:p>
            <a:pPr>
              <a:spcBef>
                <a:spcPts val="400"/>
              </a:spcBef>
              <a:defRPr sz="1250">
                <a:solidFill>
                  <a:srgbClr val="334155"/>
                </a:solidFill>
              </a:defRPr>
            </a:pPr>
            <a:r>
              <a:t>Required fields, BSON type checks, a language enum, and CVSS bounds are enforced inside the database engine.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560320"/>
            <a:ext cx="5212080" cy="16916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2697480"/>
            <a:ext cx="47548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1">
                <a:solidFill>
                  <a:srgbClr val="059669"/>
                </a:solidFill>
              </a:defRPr>
            </a:pPr>
            <a:r>
              <a:t>✓  Valid Write</a:t>
            </a:r>
          </a:p>
          <a:p>
            <a:pPr>
              <a:spcBef>
                <a:spcPts val="400"/>
              </a:spcBef>
              <a:defRPr sz="1250">
                <a:solidFill>
                  <a:srgbClr val="334155"/>
                </a:solidFill>
              </a:defRPr>
            </a:pPr>
            <a:r>
              <a:t>Accepted directly by the collection validator without application-level overhead.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526280"/>
            <a:ext cx="5212080" cy="16916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4663440"/>
            <a:ext cx="47548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1">
                <a:solidFill>
                  <a:srgbClr val="DC2626"/>
                </a:solidFill>
              </a:defRPr>
            </a:pPr>
            <a:r>
              <a:t>✕  Invalid Write</a:t>
            </a:r>
          </a:p>
          <a:p>
            <a:pPr>
              <a:spcBef>
                <a:spcPts val="400"/>
              </a:spcBef>
              <a:defRPr sz="1250">
                <a:solidFill>
                  <a:srgbClr val="334155"/>
                </a:solidFill>
              </a:defRPr>
            </a:pPr>
            <a:r>
              <a:t>Rejected immediately at the engine, preventing corrupt records from external scripts or services.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291840" cy="29260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tIns="36576"/>
          <a:lstStyle/>
          <a:p>
            <a:pPr algn="ctr">
              <a:defRPr sz="1000" b="1">
                <a:solidFill>
                  <a:srgbClr val="059669"/>
                </a:solidFill>
                <a:latin typeface="Segoe UI"/>
              </a:defRPr>
            </a:pPr>
            <a:r>
              <a:t>MONGODB · COMPUTED + EXTENDED REFERENCE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500" b="1">
                <a:solidFill>
                  <a:srgbClr val="0F172A"/>
                </a:solidFill>
                <a:latin typeface="Segoe UI"/>
              </a:defRPr>
            </a:pPr>
            <a:r>
              <a:t>Pre-compute risk on write, so reads stay cheap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53035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50" b="1">
                <a:solidFill>
                  <a:srgbClr val="0F172A"/>
                </a:solidFill>
              </a:defRPr>
            </a:pPr>
            <a:r>
              <a:t>Store risk_score on each repository; render CLEAN / ELEV / CRIT badges without recomputing risk on reads.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2240280"/>
          <a:ext cx="530352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188720"/>
                <a:gridCol w="1188720"/>
              </a:tblGrid>
              <a:tr h="420624">
                <a:tc>
                  <a:txBody>
                    <a:bodyPr wrap="square"/>
                    <a:lstStyle/>
                    <a:p>
                      <a:pPr>
                        <a:defRPr b="1" sz="1200">
                          <a:solidFill>
                            <a:srgbClr val="0F172A"/>
                          </a:solidFill>
                        </a:defRPr>
                      </a:pPr>
                      <a:r>
                        <a:t>Prototype repo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1" sz="1200">
                          <a:solidFill>
                            <a:srgbClr val="0F172A"/>
                          </a:solidFill>
                        </a:defRPr>
                      </a:pPr>
                      <a:r>
                        <a:t>Score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b="1" sz="1200">
                          <a:solidFill>
                            <a:srgbClr val="0F172A"/>
                          </a:solidFill>
                        </a:defRPr>
                      </a:pPr>
                      <a:r>
                        <a:t>Badge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</a:defRPr>
                      </a:pPr>
                      <a:r>
                        <a:t>apache/logging-log4j2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>
                          <a:solidFill>
                            <a:srgbClr val="334155"/>
                          </a:solidFill>
                        </a:defRPr>
                      </a:pPr>
                      <a:r>
                        <a:t>80.0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1">
                          <a:solidFill>
                            <a:srgbClr val="DC2626"/>
                          </a:solidFill>
                        </a:defRPr>
                      </a:pPr>
                      <a:r>
                        <a:t>CRIT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</a:defRPr>
                      </a:pPr>
                      <a:r>
                        <a:t>spring-projects/spring-boot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>
                          <a:solidFill>
                            <a:srgbClr val="334155"/>
                          </a:solidFill>
                        </a:defRPr>
                      </a:pPr>
                      <a:r>
                        <a:t>78.5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1">
                          <a:solidFill>
                            <a:srgbClr val="DC2626"/>
                          </a:solidFill>
                        </a:defRPr>
                      </a:pPr>
                      <a:r>
                        <a:t>CRIT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</a:defRPr>
                      </a:pPr>
                      <a:r>
                        <a:t>pallets/flask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>
                          <a:solidFill>
                            <a:srgbClr val="334155"/>
                          </a:solidFill>
                        </a:defRPr>
                      </a:pPr>
                      <a:r>
                        <a:t>61.2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1">
                          <a:solidFill>
                            <a:srgbClr val="DC2626"/>
                          </a:solidFill>
                        </a:defRPr>
                      </a:pPr>
                      <a:r>
                        <a:t>CRIT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</a:defRPr>
                      </a:pPr>
                      <a:r>
                        <a:t>psf/requests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>
                          <a:solidFill>
                            <a:srgbClr val="334155"/>
                          </a:solidFill>
                        </a:defRPr>
                      </a:pPr>
                      <a:r>
                        <a:t>44.8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150" b="1">
                          <a:solidFill>
                            <a:srgbClr val="059669"/>
                          </a:solidFill>
                        </a:defRPr>
                      </a:pPr>
                      <a:r>
                        <a:t>ELEV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31520" y="4526280"/>
            <a:ext cx="5303520" cy="1737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4663440"/>
            <a:ext cx="48463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>
                <a:solidFill>
                  <a:srgbClr val="0284C7"/>
                </a:solidFill>
              </a:defRPr>
            </a:pPr>
            <a:r>
              <a:t>Copy the hot fields, retain the link</a:t>
            </a:r>
          </a:p>
          <a:p>
            <a:pPr>
              <a:spcBef>
                <a:spcPts val="400"/>
              </a:spcBef>
              <a:defRPr sz="1200">
                <a:solidFill>
                  <a:srgbClr val="334155"/>
                </a:solidFill>
              </a:defRPr>
            </a:pPr>
            <a:r>
              <a:t>Embed frequently queried CVE id, severity, and score directly in the repository manifest for instant table rendering; link to full advisories in canonical collections.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5212080" cy="2612833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5_repository_telemetry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4496" y="1682496"/>
            <a:ext cx="5138928" cy="2539681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217920" y="4526280"/>
            <a:ext cx="5212080" cy="1737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4663440"/>
            <a:ext cx="47548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1">
                <a:solidFill>
                  <a:srgbClr val="059669"/>
                </a:solidFill>
              </a:defRPr>
            </a:pPr>
            <a:r>
              <a:t>Zero-Join Manifest Retrieval</a:t>
            </a:r>
          </a:p>
          <a:p>
            <a:pPr>
              <a:spcBef>
                <a:spcPts val="400"/>
              </a:spcBef>
              <a:defRPr sz="1200">
                <a:solidFill>
                  <a:srgbClr val="334155"/>
                </a:solidFill>
              </a:defRPr>
            </a:pPr>
            <a:r>
              <a:t>The monitored repository view renders stars, languages, and severity badges from a single collection fetch—eliminating costly multi-table SQL joins.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291840" cy="29260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tIns="36576"/>
          <a:lstStyle/>
          <a:p>
            <a:pPr algn="ctr">
              <a:defRPr sz="1000" b="1">
                <a:solidFill>
                  <a:srgbClr val="059669"/>
                </a:solidFill>
                <a:latin typeface="Segoe UI"/>
              </a:defRPr>
            </a:pPr>
            <a:r>
              <a:t>MONGODB · ACCESS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500" b="1">
                <a:solidFill>
                  <a:srgbClr val="0F172A"/>
                </a:solidFill>
                <a:latin typeface="Segoe UI"/>
              </a:defRPr>
            </a:pPr>
            <a:r>
              <a:t>Compound indexes match the way analysts filter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3328416" cy="11887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2962656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>
                <a:solidFill>
                  <a:srgbClr val="059669"/>
                </a:solidFill>
              </a:defRPr>
            </a:pPr>
            <a:r>
              <a:t>01  ·  Equality</a:t>
            </a:r>
          </a:p>
          <a:p>
            <a:pPr>
              <a:spcBef>
                <a:spcPts val="400"/>
              </a:spcBef>
              <a:defRPr sz="1200">
                <a:solidFill>
                  <a:srgbClr val="334155"/>
                </a:solidFill>
              </a:defRPr>
            </a:pPr>
            <a:r>
              <a:t>Filter on primary_language.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16552" y="1508760"/>
            <a:ext cx="3328416" cy="11887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99432" y="1600200"/>
            <a:ext cx="2962656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>
                <a:solidFill>
                  <a:srgbClr val="059669"/>
                </a:solidFill>
              </a:defRPr>
            </a:pPr>
            <a:r>
              <a:t>02  ·  Ordered scan</a:t>
            </a:r>
          </a:p>
          <a:p>
            <a:pPr>
              <a:spcBef>
                <a:spcPts val="400"/>
              </a:spcBef>
              <a:defRPr sz="1200">
                <a:solidFill>
                  <a:srgbClr val="334155"/>
                </a:solidFill>
              </a:defRPr>
            </a:pPr>
            <a:r>
              <a:t>Read stars descending.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01584" y="1508760"/>
            <a:ext cx="3328416" cy="11887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84464" y="1600200"/>
            <a:ext cx="2962656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>
                <a:solidFill>
                  <a:srgbClr val="059669"/>
                </a:solidFill>
              </a:defRPr>
            </a:pPr>
            <a:r>
              <a:t>03  ·  No blocking sort</a:t>
            </a:r>
          </a:p>
          <a:p>
            <a:pPr>
              <a:spcBef>
                <a:spcPts val="400"/>
              </a:spcBef>
              <a:defRPr sz="1200">
                <a:solidFill>
                  <a:srgbClr val="334155"/>
                </a:solidFill>
              </a:defRPr>
            </a:pPr>
            <a:r>
              <a:t>The compound index supplies the order.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926080"/>
            <a:ext cx="5212080" cy="3383280"/>
          </a:xfrm>
          <a:prstGeom prst="roundRect">
            <a:avLst>
              <a:gd name="adj" fmla="val 3500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3127248"/>
            <a:ext cx="462686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1">
                <a:solidFill>
                  <a:srgbClr val="94A3B8"/>
                </a:solidFill>
                <a:latin typeface="Segoe UI"/>
              </a:defRPr>
            </a:pPr>
            <a:r>
              <a:t>INDEX DEFINITION &amp; EXPLAIN PLAN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" y="3419856"/>
            <a:ext cx="4626864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>
                <a:solidFill>
                  <a:srgbClr val="38BDF8"/>
                </a:solidFill>
                <a:latin typeface="Consolas"/>
              </a:defRPr>
            </a:pPr>
            <a:r>
              <a:t>db.repositories.createIndex({</a:t>
            </a:r>
            <a:br/>
            <a:r>
              <a:t>  primary_language: 1, stars: -1</a:t>
            </a:r>
            <a:br/>
            <a:r>
              <a:t>})</a:t>
            </a:r>
            <a:br/>
            <a:r>
              <a:t>db.repositories.createIndex({ repo: "text" })</a:t>
            </a:r>
            <a:br/>
            <a:br/>
            <a:r>
              <a:t>db.repositories.find({</a:t>
            </a:r>
            <a:br/>
            <a:r>
              <a:t>  primary_language: "Java"</a:t>
            </a:r>
            <a:br/>
            <a:r>
              <a:t>}).sort({ stars: -1 }).explain("executionStats")</a:t>
            </a:r>
            <a:br/>
            <a:br/>
            <a:r>
              <a:t>// Winning-plan stage: IXSCAN</a:t>
            </a:r>
            <a:br/>
            <a:r>
              <a:t>// No blocking SORT for this query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3017520"/>
            <a:ext cx="5212080" cy="2612833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05_repository_telemetry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4496" y="3054096"/>
            <a:ext cx="5138928" cy="253968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291840" cy="29260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tIns="36576"/>
          <a:lstStyle/>
          <a:p>
            <a:pPr algn="ctr">
              <a:defRPr sz="1000" b="1">
                <a:solidFill>
                  <a:srgbClr val="059669"/>
                </a:solidFill>
                <a:latin typeface="Segoe UI"/>
              </a:defRPr>
            </a:pPr>
            <a:r>
              <a:t>MONGODB · LIVE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500" b="1">
                <a:solidFill>
                  <a:srgbClr val="0F172A"/>
                </a:solidFill>
                <a:latin typeface="Segoe UI"/>
              </a:defRPr>
            </a:pPr>
            <a:r>
              <a:t>Aggregation pipelines turn telemetry into live analytics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>
                <a:solidFill>
                  <a:srgbClr val="334155"/>
                </a:solidFill>
              </a:defRPr>
            </a:pPr>
            <a:r>
              <a:t>$match → $group → $project derives per-language risk index, CVE counts and peak CVSS. $facet runs parallel pipelines over one shared input scan.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65960"/>
            <a:ext cx="5303520" cy="4343400"/>
          </a:xfrm>
          <a:prstGeom prst="roundRect">
            <a:avLst>
              <a:gd name="adj" fmla="val 3500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2167128"/>
            <a:ext cx="471830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1">
                <a:solidFill>
                  <a:srgbClr val="94A3B8"/>
                </a:solidFill>
                <a:latin typeface="Segoe UI"/>
              </a:defRPr>
            </a:pPr>
            <a:r>
              <a:t>$FACET PIPELINE · EXCERPT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2459736"/>
            <a:ext cx="4718304" cy="3703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>
                <a:solidFill>
                  <a:srgbClr val="38BDF8"/>
                </a:solidFill>
                <a:latin typeface="Consolas"/>
              </a:defRPr>
            </a:pPr>
            <a:r>
              <a:t>db.repositories.aggregate([</a:t>
            </a:r>
            <a:br/>
            <a:r>
              <a:t>  { $match: { risk_score: { $exists: true } } },</a:t>
            </a:r>
            <a:br/>
            <a:r>
              <a:t>  { $facet: {</a:t>
            </a:r>
            <a:br/>
            <a:r>
              <a:t>      byLanguage: [</a:t>
            </a:r>
            <a:br/>
            <a:r>
              <a:t>        { $group: {</a:t>
            </a:r>
            <a:br/>
            <a:r>
              <a:t>            _id: "$primary_language",</a:t>
            </a:r>
            <a:br/>
            <a:r>
              <a:t>            risk_index: { $avg: "$risk_score" }</a:t>
            </a:r>
            <a:br/>
            <a:r>
              <a:t>        }},</a:t>
            </a:r>
            <a:br/>
            <a:r>
              <a:t>        { $project: { _id: 0, language: "$_id", risk_index: 1 } }</a:t>
            </a:r>
            <a:br/>
            <a:r>
              <a:t>      ],</a:t>
            </a:r>
            <a:br/>
            <a:r>
              <a:t>      peak: [</a:t>
            </a:r>
            <a:br/>
            <a:r>
              <a:t>        { $unwind: "$cves" },</a:t>
            </a:r>
            <a:br/>
            <a:r>
              <a:t>        { $group: { _id: null, peak_cvss: { $max: "$cves.cvss" } } }</a:t>
            </a:r>
            <a:br/>
            <a:r>
              <a:t>      ]</a:t>
            </a:r>
            <a:br/>
            <a:r>
              <a:t>  }}</a:t>
            </a:r>
            <a:br/>
            <a:r>
              <a:t>])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965960"/>
            <a:ext cx="5212080" cy="2612833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4_mongodb_analytics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4496" y="2002536"/>
            <a:ext cx="5138928" cy="2539681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217920" y="4754880"/>
            <a:ext cx="5212080" cy="15544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4892040"/>
            <a:ext cx="475488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1">
                <a:solidFill>
                  <a:srgbClr val="059669"/>
                </a:solidFill>
              </a:defRPr>
            </a:pPr>
            <a:r>
              <a:t>12 repos  ·  7 active CVEs</a:t>
            </a:r>
          </a:p>
          <a:p>
            <a:pPr>
              <a:spcBef>
                <a:spcPts val="400"/>
              </a:spcBef>
              <a:defRPr sz="1300" b="1">
                <a:solidFill>
                  <a:srgbClr val="0F172A"/>
                </a:solidFill>
              </a:defRPr>
            </a:pPr>
            <a:r>
              <a:t>Java risk index: 52.83   |   Peak CVSS: 10.0 (Log4Shell)</a:t>
            </a:r>
          </a:p>
          <a:p>
            <a:pPr>
              <a:spcBef>
                <a:spcPts val="200"/>
              </a:spcBef>
              <a:defRPr sz="1150">
                <a:solidFill>
                  <a:srgbClr val="64748B"/>
                </a:solidFill>
              </a:defRPr>
            </a:pPr>
            <a:r>
              <a:t>All computed dynamically via single-pass aggregation pipeline.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291840" cy="292608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tIns="36576"/>
          <a:lstStyle/>
          <a:p>
            <a:pPr algn="ctr">
              <a:defRPr sz="1000" b="1">
                <a:solidFill>
                  <a:srgbClr val="0284C7"/>
                </a:solidFill>
                <a:latin typeface="Segoe UI"/>
              </a:defRPr>
            </a:pPr>
            <a:r>
              <a:t>NEO4J · DEPENDENCY TRAVERSAL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500" b="1">
                <a:solidFill>
                  <a:srgbClr val="0F172A"/>
                </a:solidFill>
                <a:latin typeface="Segoe UI"/>
              </a:defRPr>
            </a:pPr>
            <a:r>
              <a:t>Neo4j traces 1..5 hop blast radius where joins stall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5212080" cy="1874519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91640"/>
            <a:ext cx="475488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0284C7"/>
                </a:solidFill>
              </a:defRPr>
            </a:pPr>
            <a:r>
              <a:t>Index-Free Adjacency</a:t>
            </a:r>
          </a:p>
          <a:p>
            <a:pPr>
              <a:spcBef>
                <a:spcPts val="600"/>
              </a:spcBef>
              <a:defRPr sz="1300">
                <a:solidFill>
                  <a:srgbClr val="334155"/>
                </a:solidFill>
              </a:defRPr>
            </a:pPr>
            <a:r>
              <a:t>Each hop follows relationship pointers directly in memory, not relational join tables. Sub-5ms traversal across deep microservice dependency graphs.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566160"/>
            <a:ext cx="5212080" cy="2697480"/>
          </a:xfrm>
          <a:prstGeom prst="roundRect">
            <a:avLst>
              <a:gd name="adj" fmla="val 3500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3767328"/>
            <a:ext cx="462686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1">
                <a:solidFill>
                  <a:srgbClr val="94A3B8"/>
                </a:solidFill>
                <a:latin typeface="Segoe UI"/>
              </a:defRPr>
            </a:pPr>
            <a:r>
              <a:t>CYPHER BLAST RADIUS QUERY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4059936"/>
            <a:ext cx="4626864" cy="2057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>
                <a:solidFill>
                  <a:srgbClr val="38BDF8"/>
                </a:solidFill>
                <a:latin typeface="Consolas"/>
              </a:defRPr>
            </a:pPr>
            <a:r>
              <a:t>MATCH (p:Package)&lt;-[:DEPENDS_ON*1..5]-(r:Repository)</a:t>
            </a:r>
            <a:br/>
            <a:r>
              <a:t>WHERE p.name = "log4j-core"</a:t>
            </a:r>
            <a:br/>
            <a:r>
              <a:t>RETURN DISTINCT r.slug, length(path) AS depth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508760"/>
            <a:ext cx="5212080" cy="2612833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02_blast_radius_tr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4496" y="1545336"/>
            <a:ext cx="5138928" cy="2539681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217920" y="4343400"/>
            <a:ext cx="5212080" cy="19202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4480560"/>
            <a:ext cx="475488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DC2626"/>
                </a:solidFill>
              </a:defRPr>
            </a:pPr>
            <a:r>
              <a:t>3 Services Exposed</a:t>
            </a:r>
          </a:p>
          <a:p>
            <a:pPr>
              <a:spcBef>
                <a:spcPts val="400"/>
              </a:spcBef>
              <a:defRPr sz="1300">
                <a:solidFill>
                  <a:srgbClr val="334155"/>
                </a:solidFill>
              </a:defRPr>
            </a:pPr>
            <a:r>
              <a:t>The log4j-core trace reached hop depths 1 and 2 in sub-5ms; repeat reads served as a Redis cache hit under 1ms.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291840" cy="292608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tIns="36576"/>
          <a:lstStyle/>
          <a:p>
            <a:pPr algn="ctr">
              <a:defRPr sz="1000" b="1">
                <a:solidFill>
                  <a:srgbClr val="7C3AED"/>
                </a:solidFill>
                <a:latin typeface="Segoe UI"/>
              </a:defRPr>
            </a:pPr>
            <a:r>
              <a:t>REDIS · LOW-LATENCY DELIVERY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500" b="1">
                <a:solidFill>
                  <a:srgbClr val="0F172A"/>
                </a:solidFill>
                <a:latin typeface="Segoe UI"/>
              </a:defRPr>
            </a:pPr>
            <a:r>
              <a:t>Redis makes risk ranking and alerts instant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3328416" cy="47548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91640"/>
            <a:ext cx="2871216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7C3AED"/>
                </a:solidFill>
              </a:defRPr>
            </a:pPr>
            <a:r>
              <a:t>ZSET</a:t>
            </a:r>
          </a:p>
          <a:p>
            <a:pPr>
              <a:spcBef>
                <a:spcPts val="400"/>
              </a:spcBef>
              <a:defRPr sz="1800" b="1">
                <a:solidFill>
                  <a:srgbClr val="0F172A"/>
                </a:solidFill>
              </a:defRPr>
            </a:pPr>
            <a:r>
              <a:t>Risk Leaderboard</a:t>
            </a:r>
          </a:p>
          <a:p>
            <a:pPr>
              <a:spcBef>
                <a:spcPts val="800"/>
              </a:spcBef>
              <a:defRPr sz="1250">
                <a:solidFill>
                  <a:srgbClr val="334155"/>
                </a:solidFill>
              </a:defRPr>
            </a:pPr>
            <a:r>
              <a:t>Repository risk scores are sorted on write for ranked reads in O(log N).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3931920"/>
            <a:ext cx="2962656" cy="2148840"/>
          </a:xfrm>
          <a:prstGeom prst="roundRect">
            <a:avLst>
              <a:gd name="adj" fmla="val 3500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7008" y="4133088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1">
                <a:solidFill>
                  <a:srgbClr val="94A3B8"/>
                </a:solidFill>
                <a:latin typeface="Segoe UI"/>
              </a:defRPr>
            </a:pPr>
            <a:r>
              <a:t>REDIS COMMAND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7008" y="4425696"/>
            <a:ext cx="237744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Consolas"/>
              </a:defRPr>
            </a:pPr>
            <a:r>
              <a:t>ZADD risk:repos 80.0 "apache/logging-log4j2"</a:t>
            </a:r>
            <a:br/>
            <a:r>
              <a:t>ZREVRANGE risk:repos 0 4 WITHSCORES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16552" y="1508760"/>
            <a:ext cx="3328416" cy="47548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45152" y="1691640"/>
            <a:ext cx="2871216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0284C7"/>
                </a:solidFill>
              </a:defRPr>
            </a:pPr>
            <a:r>
              <a:t>TTL CACHE</a:t>
            </a:r>
          </a:p>
          <a:p>
            <a:pPr>
              <a:spcBef>
                <a:spcPts val="400"/>
              </a:spcBef>
              <a:defRPr sz="1800" b="1">
                <a:solidFill>
                  <a:srgbClr val="0F172A"/>
                </a:solidFill>
              </a:defRPr>
            </a:pPr>
            <a:r>
              <a:t>Repeated Traces</a:t>
            </a:r>
          </a:p>
          <a:p>
            <a:pPr>
              <a:spcBef>
                <a:spcPts val="800"/>
              </a:spcBef>
              <a:defRPr sz="1250">
                <a:solidFill>
                  <a:srgbClr val="334155"/>
                </a:solidFill>
              </a:defRPr>
            </a:pPr>
            <a:r>
              <a:t>TTL-cached blast-radius queries return in under 1ms; expiry bounds cache lifetime.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99432" y="3931920"/>
            <a:ext cx="2962656" cy="2148840"/>
          </a:xfrm>
          <a:prstGeom prst="roundRect">
            <a:avLst>
              <a:gd name="adj" fmla="val 3500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92040" y="4133088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1">
                <a:solidFill>
                  <a:srgbClr val="94A3B8"/>
                </a:solidFill>
                <a:latin typeface="Segoe UI"/>
              </a:defRPr>
            </a:pPr>
            <a:r>
              <a:t>REDIS COMMAND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4425696"/>
            <a:ext cx="237744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Consolas"/>
              </a:defRPr>
            </a:pPr>
            <a:r>
              <a:t>SETEX trace:log4j-core 180 "{\"exposed\": 3}"</a:t>
            </a:r>
            <a:br/>
            <a:r>
              <a:t>GET trace:log4j-core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01584" y="1508760"/>
            <a:ext cx="3328416" cy="47548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0184" y="1691640"/>
            <a:ext cx="2871216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DC2626"/>
                </a:solidFill>
              </a:defRPr>
            </a:pPr>
            <a:r>
              <a:t>PUB/SUB</a:t>
            </a:r>
          </a:p>
          <a:p>
            <a:pPr>
              <a:spcBef>
                <a:spcPts val="400"/>
              </a:spcBef>
              <a:defRPr sz="1800" b="1">
                <a:solidFill>
                  <a:srgbClr val="0F172A"/>
                </a:solidFill>
              </a:defRPr>
            </a:pPr>
            <a:r>
              <a:t>Live CVE Ticker</a:t>
            </a:r>
          </a:p>
          <a:p>
            <a:pPr>
              <a:spcBef>
                <a:spcPts val="800"/>
              </a:spcBef>
              <a:defRPr sz="1250">
                <a:solidFill>
                  <a:srgbClr val="334155"/>
                </a:solidFill>
              </a:defRPr>
            </a:pPr>
            <a:r>
              <a:t>New CVE zero-day alerts broadcast to WebSocket subscribers without database polling.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84464" y="3931920"/>
            <a:ext cx="2962656" cy="2148840"/>
          </a:xfrm>
          <a:prstGeom prst="roundRect">
            <a:avLst>
              <a:gd name="adj" fmla="val 3500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77072" y="4133088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1">
                <a:solidFill>
                  <a:srgbClr val="94A3B8"/>
                </a:solidFill>
                <a:latin typeface="Segoe UI"/>
              </a:defRPr>
            </a:pPr>
            <a:r>
              <a:t>REDIS COMMAND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77072" y="4425696"/>
            <a:ext cx="237744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Consolas"/>
              </a:defRPr>
            </a:pPr>
            <a:r>
              <a:t>PUBLISH cve:alerts "{\"cve\": \"CVE-2021-44228\"}"</a:t>
            </a:r>
            <a:br/>
            <a:r>
              <a:t>SUBSCRIBE cve:alerts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474720" cy="29260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tIns="36576"/>
          <a:lstStyle/>
          <a:p>
            <a:pPr algn="ctr">
              <a:defRPr sz="1000" b="1">
                <a:solidFill>
                  <a:srgbClr val="059669"/>
                </a:solidFill>
                <a:latin typeface="Segoe UI"/>
              </a:defRPr>
            </a:pPr>
            <a:r>
              <a:t>AIM3141 CURRICULUM SYNTHESIS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500" b="1">
                <a:solidFill>
                  <a:srgbClr val="0F172A"/>
                </a:solidFill>
                <a:latin typeface="Segoe UI"/>
              </a:defRPr>
            </a:pPr>
            <a:r>
              <a:t>Direct syllabus mapping: Course outcomes validated in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53312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50">
                <a:solidFill>
                  <a:srgbClr val="334155"/>
                </a:solidFill>
              </a:defRPr>
            </a:pPr>
            <a:r>
              <a:t>Every architectural component in ChainReaction maps directly to learning outcomes of the AIM3141 NoSQL curriculum.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55648"/>
            <a:ext cx="3328416" cy="3639312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883664"/>
            <a:ext cx="292608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</a:defRPr>
            </a:pPr>
            <a:r>
              <a:t>AIM3141.2 · LECTURES 9, 13, 15</a:t>
            </a:r>
          </a:p>
          <a:p>
            <a:pPr>
              <a:spcBef>
                <a:spcPts val="300"/>
              </a:spcBef>
              <a:defRPr sz="1550" b="1">
                <a:solidFill>
                  <a:srgbClr val="0F172A"/>
                </a:solidFill>
              </a:defRPr>
            </a:pPr>
            <a:r>
              <a:t>Document &amp; Schema Patterns</a:t>
            </a:r>
          </a:p>
          <a:p>
            <a:pPr>
              <a:spcBef>
                <a:spcPts val="400"/>
              </a:spcBef>
              <a:defRPr sz="1000">
                <a:solidFill>
                  <a:srgbClr val="334155"/>
                </a:solidFill>
              </a:defRPr>
            </a:pPr>
            <a:r>
              <a:t>• Polymorphic Manifests: Heterogeneous package structures (npm, PyPI, Maven) coexisting in a single BSON collection.</a:t>
            </a:r>
          </a:p>
          <a:p>
            <a:pPr>
              <a:spcBef>
                <a:spcPts val="400"/>
              </a:spcBef>
              <a:defRPr sz="1000">
                <a:solidFill>
                  <a:srgbClr val="334155"/>
                </a:solidFill>
              </a:defRPr>
            </a:pPr>
            <a:r>
              <a:t>• Computed Pattern: Pre-calculates risk_score on write to render status badges without read-time computation.</a:t>
            </a:r>
          </a:p>
          <a:p>
            <a:pPr>
              <a:spcBef>
                <a:spcPts val="400"/>
              </a:spcBef>
              <a:defRPr sz="1000">
                <a:solidFill>
                  <a:srgbClr val="334155"/>
                </a:solidFill>
              </a:defRPr>
            </a:pPr>
            <a:r>
              <a:t>• Extended Reference: Denormalizes hot CVE fields into repo docs for instant zero-join dashboard rendering.</a:t>
            </a:r>
          </a:p>
          <a:p>
            <a:pPr>
              <a:spcBef>
                <a:spcPts val="400"/>
              </a:spcBef>
              <a:defRPr sz="1000">
                <a:solidFill>
                  <a:srgbClr val="334155"/>
                </a:solidFill>
              </a:defRPr>
            </a:pPr>
            <a:r>
              <a:t>• Compound Indexing: { primary_language: 1, stars: -1 } supplies query order without blocking memory sorts (IXSCAN).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16552" y="1755648"/>
            <a:ext cx="3328416" cy="3639312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1883664"/>
            <a:ext cx="292608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AIM3141.3 · LECTURES 16–18, 20</a:t>
            </a:r>
          </a:p>
          <a:p>
            <a:pPr>
              <a:spcBef>
                <a:spcPts val="300"/>
              </a:spcBef>
              <a:defRPr sz="1550" b="1">
                <a:solidFill>
                  <a:srgbClr val="0F172A"/>
                </a:solidFill>
              </a:defRPr>
            </a:pPr>
            <a:r>
              <a:t>Aggregations &amp; Write Contract</a:t>
            </a:r>
          </a:p>
          <a:p>
            <a:pPr>
              <a:spcBef>
                <a:spcPts val="400"/>
              </a:spcBef>
              <a:defRPr sz="1000">
                <a:solidFill>
                  <a:srgbClr val="334155"/>
                </a:solidFill>
              </a:defRPr>
            </a:pPr>
            <a:r>
              <a:t>• Parallel $facet Execution: Runs independent $group sub-pipelines in parallel over a single input scan for live risk indexes.</a:t>
            </a:r>
          </a:p>
          <a:p>
            <a:pPr>
              <a:spcBef>
                <a:spcPts val="400"/>
              </a:spcBef>
              <a:defRPr sz="1000">
                <a:solidFill>
                  <a:srgbClr val="334155"/>
                </a:solidFill>
              </a:defRPr>
            </a:pPr>
            <a:r>
              <a:t>• Analytical Pipeline: $match → $group → $project → $unwind derives real-time multi-ecosystem vulnerability metrics.</a:t>
            </a:r>
          </a:p>
          <a:p>
            <a:pPr>
              <a:spcBef>
                <a:spcPts val="400"/>
              </a:spcBef>
              <a:defRPr sz="1000">
                <a:solidFill>
                  <a:srgbClr val="334155"/>
                </a:solidFill>
              </a:defRPr>
            </a:pPr>
            <a:r>
              <a:t>• Engine-Level $jsonSchema: Enforces required fields, language enums, and CVSS bounds (0.0–10.0) at the database layer.</a:t>
            </a:r>
          </a:p>
          <a:p>
            <a:pPr>
              <a:spcBef>
                <a:spcPts val="400"/>
              </a:spcBef>
              <a:defRPr sz="1000">
                <a:solidFill>
                  <a:srgbClr val="334155"/>
                </a:solidFill>
              </a:defRPr>
            </a:pPr>
            <a:r>
              <a:t>• PyMongo Integration: Asynchronous FastAPI ASGI layer orchestrating atomic document writes and telemetry streams.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01584" y="1755648"/>
            <a:ext cx="3328416" cy="3639312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02752" y="1883664"/>
            <a:ext cx="292608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7C3AED"/>
                </a:solidFill>
              </a:defRPr>
            </a:pPr>
            <a:r>
              <a:t>AIM3141.5 · LECTURE 35</a:t>
            </a:r>
          </a:p>
          <a:p>
            <a:pPr>
              <a:spcBef>
                <a:spcPts val="300"/>
              </a:spcBef>
              <a:defRPr sz="1550" b="1">
                <a:solidFill>
                  <a:srgbClr val="0F172A"/>
                </a:solidFill>
              </a:defRPr>
            </a:pPr>
            <a:r>
              <a:t>Graph Traversal &amp; In-Memory</a:t>
            </a:r>
          </a:p>
          <a:p>
            <a:pPr>
              <a:spcBef>
                <a:spcPts val="400"/>
              </a:spcBef>
              <a:defRPr sz="1000">
                <a:solidFill>
                  <a:srgbClr val="334155"/>
                </a:solidFill>
              </a:defRPr>
            </a:pPr>
            <a:r>
              <a:t>• Index-Free Adjacency: Follows direct memory pointers; eliminates exponential penalties of recursive SQL self-joins.</a:t>
            </a:r>
          </a:p>
          <a:p>
            <a:pPr>
              <a:spcBef>
                <a:spcPts val="400"/>
              </a:spcBef>
              <a:defRPr sz="1000">
                <a:solidFill>
                  <a:srgbClr val="334155"/>
                </a:solidFill>
              </a:defRPr>
            </a:pPr>
            <a:r>
              <a:t>• Variable-Length Cypher: [:DEPENDS_ON*1..5] evaluates multi-hop blast paths in sub-5ms across deep microservice trees.</a:t>
            </a:r>
          </a:p>
          <a:p>
            <a:pPr>
              <a:spcBef>
                <a:spcPts val="400"/>
              </a:spcBef>
              <a:defRPr sz="1000">
                <a:solidFill>
                  <a:srgbClr val="334155"/>
                </a:solidFill>
              </a:defRPr>
            </a:pPr>
            <a:r>
              <a:t>• Redis Sorted Sets (ZSET): Maintains O(log N) risk leaderboards for sub-millisecond top-N critical service ranking.</a:t>
            </a:r>
          </a:p>
          <a:p>
            <a:pPr>
              <a:spcBef>
                <a:spcPts val="400"/>
              </a:spcBef>
              <a:defRPr sz="1000">
                <a:solidFill>
                  <a:srgbClr val="334155"/>
                </a:solidFill>
              </a:defRPr>
            </a:pPr>
            <a:r>
              <a:t>• TTL Caching &amp; Pub/Sub: Caches repeated traces (&lt;1ms) with SETEX and streams real-time zero-day alerts over WebSockets.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522976"/>
            <a:ext cx="10698480" cy="9601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5614416"/>
            <a:ext cx="1024128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59669"/>
                </a:solidFill>
              </a:defRPr>
            </a:pPr>
            <a:r>
              <a:t>AIM3141.1 &amp; ARCHITECTURAL VERDICT: THE WORKLOAD DICTATES THE NO-SQL STORE</a:t>
            </a:r>
          </a:p>
          <a:p>
            <a:pPr>
              <a:spcBef>
                <a:spcPts val="200"/>
              </a:spcBef>
              <a:defRPr sz="1050">
                <a:solidFill>
                  <a:srgbClr val="334155"/>
                </a:solidFill>
              </a:defRPr>
            </a:pPr>
            <a:r>
              <a:t>Relational systems force compromises on deeply connected graphs and real-time event streams. ChainReaction deliberately applies CAP and PACELC trade-offs: MongoDB delivers flexible document modeling, Neo4j provides instant pointer-hop path geometry, and Redis ensures sub-millisecond in-memory delivery.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